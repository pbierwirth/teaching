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handoutMasterIdLst>
    <p:handoutMasterId r:id="rId26"/>
  </p:handoutMasterIdLst>
  <p:sldIdLst>
    <p:sldId id="256" r:id="rId2"/>
    <p:sldId id="309" r:id="rId3"/>
    <p:sldId id="310" r:id="rId4"/>
    <p:sldId id="311" r:id="rId5"/>
    <p:sldId id="316" r:id="rId6"/>
    <p:sldId id="317" r:id="rId7"/>
    <p:sldId id="312" r:id="rId8"/>
    <p:sldId id="270" r:id="rId9"/>
    <p:sldId id="313" r:id="rId10"/>
    <p:sldId id="314" r:id="rId11"/>
    <p:sldId id="315" r:id="rId12"/>
    <p:sldId id="318" r:id="rId13"/>
    <p:sldId id="319" r:id="rId14"/>
    <p:sldId id="320" r:id="rId15"/>
    <p:sldId id="321" r:id="rId16"/>
    <p:sldId id="323" r:id="rId17"/>
    <p:sldId id="326" r:id="rId18"/>
    <p:sldId id="324" r:id="rId19"/>
    <p:sldId id="327" r:id="rId20"/>
    <p:sldId id="325" r:id="rId21"/>
    <p:sldId id="329" r:id="rId22"/>
    <p:sldId id="328" r:id="rId23"/>
    <p:sldId id="28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AADC"/>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51" d="100"/>
          <a:sy n="151" d="100"/>
        </p:scale>
        <p:origin x="2320" y="496"/>
      </p:cViewPr>
      <p:guideLst/>
    </p:cSldViewPr>
  </p:slideViewPr>
  <p:notesTextViewPr>
    <p:cViewPr>
      <p:scale>
        <a:sx n="3" d="2"/>
        <a:sy n="3" d="2"/>
      </p:scale>
      <p:origin x="0" y="0"/>
    </p:cViewPr>
  </p:notesText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A340DDED-E7DA-4DFD-A910-09188F2B38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98DF654C-AA9A-46C4-BF9E-36BCB453468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1F8A9F-306A-44B2-A74F-F8D51C80C435}" type="datetimeFigureOut">
              <a:rPr lang="de-DE" smtClean="0"/>
              <a:t>30.06.25</a:t>
            </a:fld>
            <a:endParaRPr lang="de-DE"/>
          </a:p>
        </p:txBody>
      </p:sp>
      <p:sp>
        <p:nvSpPr>
          <p:cNvPr id="4" name="Fußzeilenplatzhalter 3">
            <a:extLst>
              <a:ext uri="{FF2B5EF4-FFF2-40B4-BE49-F238E27FC236}">
                <a16:creationId xmlns:a16="http://schemas.microsoft.com/office/drawing/2014/main" id="{731E014A-AC47-40EB-B76F-8D0CDFCBC9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6A53D6B8-57F6-4ED7-A969-A852700211F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918989-54D3-4843-8B4B-B01C50B7C0DB}" type="slidenum">
              <a:rPr lang="de-DE" smtClean="0"/>
              <a:t>‹Nr.›</a:t>
            </a:fld>
            <a:endParaRPr lang="de-DE"/>
          </a:p>
        </p:txBody>
      </p:sp>
    </p:spTree>
    <p:extLst>
      <p:ext uri="{BB962C8B-B14F-4D97-AF65-F5344CB8AC3E}">
        <p14:creationId xmlns:p14="http://schemas.microsoft.com/office/powerpoint/2010/main" val="2031705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6563DF-8B8F-428E-A4D7-2B8E3624EA84}" type="datetimeFigureOut">
              <a:rPr lang="de-DE" smtClean="0"/>
              <a:t>30.06.25</a:t>
            </a:fld>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E18E20-F5F7-495E-AFF2-9F4B4551035B}" type="slidenum">
              <a:rPr lang="de-DE" smtClean="0"/>
              <a:t>‹Nr.›</a:t>
            </a:fld>
            <a:endParaRPr lang="de-DE"/>
          </a:p>
        </p:txBody>
      </p:sp>
    </p:spTree>
    <p:extLst>
      <p:ext uri="{BB962C8B-B14F-4D97-AF65-F5344CB8AC3E}">
        <p14:creationId xmlns:p14="http://schemas.microsoft.com/office/powerpoint/2010/main" val="2377953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17930"/>
            <a:ext cx="7772400" cy="2065223"/>
          </a:xfrm>
        </p:spPr>
        <p:txBody>
          <a:bodyPr anchor="b">
            <a:normAutofit/>
          </a:bodyPr>
          <a:lstStyle>
            <a:lvl1pPr algn="ctr">
              <a:defRPr sz="4000">
                <a:solidFill>
                  <a:schemeClr val="bg1"/>
                </a:solidFill>
                <a:latin typeface="Arial" panose="020B0604020202020204" pitchFamily="34" charset="0"/>
                <a:cs typeface="Arial" panose="020B0604020202020204" pitchFamily="34" charset="0"/>
              </a:defRPr>
            </a:lvl1pPr>
          </a:lstStyle>
          <a:p>
            <a:r>
              <a:rPr lang="de-DE" dirty="0"/>
              <a:t>Mastertitelformat bearbeiten</a:t>
            </a:r>
            <a:endParaRPr lang="en-US" dirty="0"/>
          </a:p>
        </p:txBody>
      </p:sp>
      <p:sp>
        <p:nvSpPr>
          <p:cNvPr id="3" name="Subtitle 2"/>
          <p:cNvSpPr>
            <a:spLocks noGrp="1"/>
          </p:cNvSpPr>
          <p:nvPr>
            <p:ph type="subTitle" idx="1"/>
          </p:nvPr>
        </p:nvSpPr>
        <p:spPr>
          <a:xfrm>
            <a:off x="1143000" y="4341871"/>
            <a:ext cx="6858000" cy="1655762"/>
          </a:xfrm>
        </p:spPr>
        <p:txBody>
          <a:bodyPr>
            <a:normAutofit/>
          </a:bodyPr>
          <a:lstStyle>
            <a:lvl1pPr marL="0" indent="0" algn="ctr">
              <a:buNone/>
              <a:defRPr sz="20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endParaRPr lang="en-US" dirty="0"/>
          </a:p>
        </p:txBody>
      </p:sp>
      <p:sp>
        <p:nvSpPr>
          <p:cNvPr id="4" name="Date Placeholder 3"/>
          <p:cNvSpPr>
            <a:spLocks noGrp="1"/>
          </p:cNvSpPr>
          <p:nvPr>
            <p:ph type="dt" sz="half" idx="10"/>
          </p:nvPr>
        </p:nvSpPr>
        <p:spPr/>
        <p:txBody>
          <a:bodyPr/>
          <a:lstStyle>
            <a:lvl1pPr>
              <a:defRPr sz="1400">
                <a:solidFill>
                  <a:schemeClr val="bg1"/>
                </a:solidFill>
                <a:latin typeface="Arial" panose="020B0604020202020204" pitchFamily="34" charset="0"/>
                <a:cs typeface="Arial" panose="020B0604020202020204" pitchFamily="34" charset="0"/>
              </a:defRPr>
            </a:lvl1pPr>
          </a:lstStyle>
          <a:p>
            <a:fld id="{6B5688FA-AB27-4367-AD80-528B68C34E96}" type="datetime1">
              <a:rPr lang="de-DE" smtClean="0"/>
              <a:pPr/>
              <a:t>30.06.25</a:t>
            </a:fld>
            <a:endParaRPr lang="de-DE" dirty="0"/>
          </a:p>
        </p:txBody>
      </p:sp>
      <p:sp>
        <p:nvSpPr>
          <p:cNvPr id="5" name="Footer Placeholder 4"/>
          <p:cNvSpPr>
            <a:spLocks noGrp="1"/>
          </p:cNvSpPr>
          <p:nvPr>
            <p:ph type="ftr" sz="quarter" idx="11"/>
          </p:nvPr>
        </p:nvSpPr>
        <p:spPr/>
        <p:txBody>
          <a:bodyPr/>
          <a:lstStyle>
            <a:lvl1pPr>
              <a:defRPr sz="1400">
                <a:solidFill>
                  <a:schemeClr val="bg1"/>
                </a:solidFill>
                <a:latin typeface="Arial" panose="020B0604020202020204" pitchFamily="34" charset="0"/>
                <a:cs typeface="Arial" panose="020B0604020202020204" pitchFamily="34" charset="0"/>
              </a:defRPr>
            </a:lvl1pPr>
          </a:lstStyle>
          <a:p>
            <a:endParaRPr lang="de-DE" dirty="0"/>
          </a:p>
        </p:txBody>
      </p:sp>
      <p:sp>
        <p:nvSpPr>
          <p:cNvPr id="6" name="Slide Number Placeholder 5"/>
          <p:cNvSpPr>
            <a:spLocks noGrp="1"/>
          </p:cNvSpPr>
          <p:nvPr>
            <p:ph type="sldNum" sz="quarter" idx="12"/>
          </p:nvPr>
        </p:nvSpPr>
        <p:spPr/>
        <p:txBody>
          <a:bodyPr/>
          <a:lstStyle>
            <a:lvl1pPr>
              <a:defRPr sz="1400">
                <a:solidFill>
                  <a:schemeClr val="bg1"/>
                </a:solidFill>
                <a:latin typeface="Arial" panose="020B0604020202020204" pitchFamily="34" charset="0"/>
                <a:cs typeface="Arial" panose="020B0604020202020204" pitchFamily="34" charset="0"/>
              </a:defRPr>
            </a:lvl1pPr>
          </a:lstStyle>
          <a:p>
            <a:fld id="{23A701DC-EF14-4B96-8CB3-3CDF492F23EA}" type="slidenum">
              <a:rPr lang="de-DE" smtClean="0"/>
              <a:pPr/>
              <a:t>‹Nr.›</a:t>
            </a:fld>
            <a:endParaRPr lang="de-DE" dirty="0"/>
          </a:p>
        </p:txBody>
      </p:sp>
      <p:pic>
        <p:nvPicPr>
          <p:cNvPr id="8" name="Grafik 7">
            <a:extLst>
              <a:ext uri="{FF2B5EF4-FFF2-40B4-BE49-F238E27FC236}">
                <a16:creationId xmlns:a16="http://schemas.microsoft.com/office/drawing/2014/main" id="{3EFFF7CA-9966-4B11-A59F-6CDBCA1EEA0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09850" y="112651"/>
            <a:ext cx="3924300" cy="1343938"/>
          </a:xfrm>
          <a:prstGeom prst="rect">
            <a:avLst/>
          </a:prstGeom>
        </p:spPr>
      </p:pic>
      <p:pic>
        <p:nvPicPr>
          <p:cNvPr id="31" name="Grafik 30">
            <a:extLst>
              <a:ext uri="{FF2B5EF4-FFF2-40B4-BE49-F238E27FC236}">
                <a16:creationId xmlns:a16="http://schemas.microsoft.com/office/drawing/2014/main" id="{3FC92421-D518-4277-8CE8-F4AF28620A7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88645" y="998596"/>
            <a:ext cx="7934325" cy="1009650"/>
          </a:xfrm>
          <a:prstGeom prst="rect">
            <a:avLst/>
          </a:prstGeom>
        </p:spPr>
      </p:pic>
    </p:spTree>
    <p:extLst>
      <p:ext uri="{BB962C8B-B14F-4D97-AF65-F5344CB8AC3E}">
        <p14:creationId xmlns:p14="http://schemas.microsoft.com/office/powerpoint/2010/main" val="1596307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4CF5E4D0-B270-42AE-8295-71382C73D997}"/>
              </a:ext>
            </a:extLst>
          </p:cNvPr>
          <p:cNvSpPr/>
          <p:nvPr userDrawn="1"/>
        </p:nvSpPr>
        <p:spPr>
          <a:xfrm>
            <a:off x="0" y="6311899"/>
            <a:ext cx="9144000" cy="546101"/>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p:nvPr>
        </p:nvSpPr>
        <p:spPr>
          <a:xfrm>
            <a:off x="628650" y="901699"/>
            <a:ext cx="7886700" cy="839790"/>
          </a:xfrm>
        </p:spPr>
        <p:txBody>
          <a:bodyPr>
            <a:normAutofit/>
          </a:bodyPr>
          <a:lstStyle>
            <a:lvl1pPr algn="ctr">
              <a:defRPr sz="3200">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de-DE" dirty="0"/>
              <a:t>Mastertitelformat bearbeiten</a:t>
            </a:r>
            <a:endParaRPr lang="en-US" dirty="0"/>
          </a:p>
        </p:txBody>
      </p:sp>
      <p:sp>
        <p:nvSpPr>
          <p:cNvPr id="3" name="Content Placeholder 2"/>
          <p:cNvSpPr>
            <a:spLocks noGrp="1"/>
          </p:cNvSpPr>
          <p:nvPr>
            <p:ph idx="1"/>
          </p:nvPr>
        </p:nvSpPr>
        <p:spPr/>
        <p:txBody>
          <a:bodyPr/>
          <a:lstStyle>
            <a:lvl1pPr>
              <a:defRPr sz="18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p:txBody>
      </p:sp>
      <p:sp>
        <p:nvSpPr>
          <p:cNvPr id="4" name="Date Placeholder 3"/>
          <p:cNvSpPr>
            <a:spLocks noGrp="1"/>
          </p:cNvSpPr>
          <p:nvPr>
            <p:ph type="dt" sz="half" idx="10"/>
          </p:nvPr>
        </p:nvSpPr>
        <p:spPr/>
        <p:txBody>
          <a:bodyPr/>
          <a:lstStyle>
            <a:lvl1pPr>
              <a:defRPr sz="1400">
                <a:solidFill>
                  <a:schemeClr val="bg1"/>
                </a:solidFill>
                <a:latin typeface="Arial" panose="020B0604020202020204" pitchFamily="34" charset="0"/>
                <a:cs typeface="Arial" panose="020B0604020202020204" pitchFamily="34" charset="0"/>
              </a:defRPr>
            </a:lvl1pPr>
          </a:lstStyle>
          <a:p>
            <a:fld id="{88BEAA1A-113D-4DB7-B5A0-0BD3DEA216BD}" type="datetime1">
              <a:rPr lang="de-DE" smtClean="0"/>
              <a:pPr/>
              <a:t>30.06.25</a:t>
            </a:fld>
            <a:endParaRPr lang="de-DE" dirty="0"/>
          </a:p>
        </p:txBody>
      </p:sp>
      <p:sp>
        <p:nvSpPr>
          <p:cNvPr id="5" name="Footer Placeholder 4"/>
          <p:cNvSpPr>
            <a:spLocks noGrp="1"/>
          </p:cNvSpPr>
          <p:nvPr>
            <p:ph type="ftr" sz="quarter" idx="11"/>
          </p:nvPr>
        </p:nvSpPr>
        <p:spPr/>
        <p:txBody>
          <a:bodyPr/>
          <a:lstStyle>
            <a:lvl1pPr>
              <a:defRPr sz="1400">
                <a:solidFill>
                  <a:schemeClr val="bg1"/>
                </a:solidFill>
                <a:latin typeface="Arial" panose="020B0604020202020204" pitchFamily="34" charset="0"/>
                <a:cs typeface="Arial" panose="020B0604020202020204" pitchFamily="34" charset="0"/>
              </a:defRPr>
            </a:lvl1pPr>
          </a:lstStyle>
          <a:p>
            <a:endParaRPr lang="de-DE" dirty="0"/>
          </a:p>
        </p:txBody>
      </p:sp>
      <p:sp>
        <p:nvSpPr>
          <p:cNvPr id="6" name="Slide Number Placeholder 5"/>
          <p:cNvSpPr>
            <a:spLocks noGrp="1"/>
          </p:cNvSpPr>
          <p:nvPr>
            <p:ph type="sldNum" sz="quarter" idx="12"/>
          </p:nvPr>
        </p:nvSpPr>
        <p:spPr/>
        <p:txBody>
          <a:bodyPr/>
          <a:lstStyle>
            <a:lvl1pPr>
              <a:defRPr sz="1400">
                <a:solidFill>
                  <a:schemeClr val="bg1"/>
                </a:solidFill>
                <a:latin typeface="Arial" panose="020B0604020202020204" pitchFamily="34" charset="0"/>
                <a:cs typeface="Arial" panose="020B0604020202020204" pitchFamily="34" charset="0"/>
              </a:defRPr>
            </a:lvl1pPr>
          </a:lstStyle>
          <a:p>
            <a:fld id="{23A701DC-EF14-4B96-8CB3-3CDF492F23EA}" type="slidenum">
              <a:rPr lang="de-DE" smtClean="0"/>
              <a:pPr/>
              <a:t>‹Nr.›</a:t>
            </a:fld>
            <a:endParaRPr lang="de-DE" dirty="0"/>
          </a:p>
        </p:txBody>
      </p:sp>
      <p:sp>
        <p:nvSpPr>
          <p:cNvPr id="10" name="Rechteck 9">
            <a:extLst>
              <a:ext uri="{FF2B5EF4-FFF2-40B4-BE49-F238E27FC236}">
                <a16:creationId xmlns:a16="http://schemas.microsoft.com/office/drawing/2014/main" id="{4E5805BC-284B-457E-98EC-4A5E1369BB2C}"/>
              </a:ext>
            </a:extLst>
          </p:cNvPr>
          <p:cNvSpPr/>
          <p:nvPr userDrawn="1"/>
        </p:nvSpPr>
        <p:spPr>
          <a:xfrm>
            <a:off x="0" y="-16669"/>
            <a:ext cx="9144000" cy="86756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a:extLst>
              <a:ext uri="{FF2B5EF4-FFF2-40B4-BE49-F238E27FC236}">
                <a16:creationId xmlns:a16="http://schemas.microsoft.com/office/drawing/2014/main" id="{1CADF02D-236C-4D02-A22A-D8E7E445EA2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81408" y="43624"/>
            <a:ext cx="2181184" cy="746980"/>
          </a:xfrm>
          <a:prstGeom prst="rect">
            <a:avLst/>
          </a:prstGeom>
        </p:spPr>
      </p:pic>
    </p:spTree>
    <p:extLst>
      <p:ext uri="{BB962C8B-B14F-4D97-AF65-F5344CB8AC3E}">
        <p14:creationId xmlns:p14="http://schemas.microsoft.com/office/powerpoint/2010/main" val="1390756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8166AEC6-0741-49E4-8064-52AD1ACC853B}"/>
              </a:ext>
            </a:extLst>
          </p:cNvPr>
          <p:cNvSpPr txBox="1">
            <a:spLocks/>
          </p:cNvSpPr>
          <p:nvPr userDrawn="1"/>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40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3A701DC-EF14-4B96-8CB3-3CDF492F23EA}" type="slidenum">
              <a:rPr lang="de-DE" smtClean="0">
                <a:solidFill>
                  <a:schemeClr val="tx1"/>
                </a:solidFill>
              </a:rPr>
              <a:pPr/>
              <a:t>‹Nr.›</a:t>
            </a:fld>
            <a:endParaRPr lang="de-DE" dirty="0">
              <a:solidFill>
                <a:schemeClr val="tx1"/>
              </a:solidFill>
            </a:endParaRPr>
          </a:p>
        </p:txBody>
      </p:sp>
      <p:sp>
        <p:nvSpPr>
          <p:cNvPr id="7" name="Date Placeholder 3">
            <a:extLst>
              <a:ext uri="{FF2B5EF4-FFF2-40B4-BE49-F238E27FC236}">
                <a16:creationId xmlns:a16="http://schemas.microsoft.com/office/drawing/2014/main" id="{A6733890-DEF9-4244-AF03-D781CC7D8396}"/>
              </a:ext>
            </a:extLst>
          </p:cNvPr>
          <p:cNvSpPr txBox="1">
            <a:spLocks/>
          </p:cNvSpPr>
          <p:nvPr userDrawn="1"/>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40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8BEAA1A-113D-4DB7-B5A0-0BD3DEA216BD}" type="datetime1">
              <a:rPr lang="de-DE" smtClean="0">
                <a:solidFill>
                  <a:schemeClr val="tx1"/>
                </a:solidFill>
              </a:rPr>
              <a:pPr/>
              <a:t>30.06.25</a:t>
            </a:fld>
            <a:endParaRPr lang="de-DE" dirty="0">
              <a:solidFill>
                <a:schemeClr val="tx1"/>
              </a:solidFill>
            </a:endParaRPr>
          </a:p>
        </p:txBody>
      </p:sp>
      <p:sp>
        <p:nvSpPr>
          <p:cNvPr id="11" name="Rechteck 10">
            <a:extLst>
              <a:ext uri="{FF2B5EF4-FFF2-40B4-BE49-F238E27FC236}">
                <a16:creationId xmlns:a16="http://schemas.microsoft.com/office/drawing/2014/main" id="{F8BB3311-0B05-4590-9EF9-EFBCD5C9BF21}"/>
              </a:ext>
            </a:extLst>
          </p:cNvPr>
          <p:cNvSpPr/>
          <p:nvPr userDrawn="1"/>
        </p:nvSpPr>
        <p:spPr>
          <a:xfrm>
            <a:off x="0" y="867574"/>
            <a:ext cx="9144000" cy="544432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p:nvPr>
        </p:nvSpPr>
        <p:spPr>
          <a:xfrm>
            <a:off x="711778" y="2376806"/>
            <a:ext cx="7886700" cy="1325563"/>
          </a:xfrm>
        </p:spPr>
        <p:txBody>
          <a:bodyPr>
            <a:normAutofit/>
          </a:bodyPr>
          <a:lstStyle>
            <a:lvl1pPr algn="ctr">
              <a:defRPr sz="3600">
                <a:solidFill>
                  <a:schemeClr val="bg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de-DE" dirty="0"/>
              <a:t>Mastertitelformat bearbeiten</a:t>
            </a:r>
            <a:endParaRPr lang="en-US" dirty="0"/>
          </a:p>
        </p:txBody>
      </p:sp>
      <p:pic>
        <p:nvPicPr>
          <p:cNvPr id="10" name="Grafik 9">
            <a:extLst>
              <a:ext uri="{FF2B5EF4-FFF2-40B4-BE49-F238E27FC236}">
                <a16:creationId xmlns:a16="http://schemas.microsoft.com/office/drawing/2014/main" id="{2D65691D-4047-47CC-BE6C-EF127A77BAE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81408" y="42417"/>
            <a:ext cx="2181184" cy="746980"/>
          </a:xfrm>
          <a:prstGeom prst="rect">
            <a:avLst/>
          </a:prstGeom>
        </p:spPr>
      </p:pic>
    </p:spTree>
    <p:extLst>
      <p:ext uri="{BB962C8B-B14F-4D97-AF65-F5344CB8AC3E}">
        <p14:creationId xmlns:p14="http://schemas.microsoft.com/office/powerpoint/2010/main" val="1029908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de-DE"/>
              <a:t>Mastertitelformat bearbeiten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2C8015C3-9333-4B72-A14A-1CEA16ACADEA}" type="datetime1">
              <a:rPr lang="de-DE" smtClean="0"/>
              <a:t>30.06.25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23A701DC-EF14-4B96-8CB3-3CDF492F23EA}" type="slidenum">
              <a:rPr lang="de-DE" smtClean="0"/>
              <a:t>‹Nr.›</a:t>
            </a:fld>
            <a:endParaRPr lang="de-DE"/>
          </a:p>
        </p:txBody>
      </p:sp>
    </p:spTree>
    <p:extLst>
      <p:ext uri="{BB962C8B-B14F-4D97-AF65-F5344CB8AC3E}">
        <p14:creationId xmlns:p14="http://schemas.microsoft.com/office/powerpoint/2010/main" val="1832018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3E65093-B18F-4FBC-BAA3-D9F5AFDD3896}" type="datetime1">
              <a:rPr lang="de-DE" smtClean="0"/>
              <a:t>30.06.25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23A701DC-EF14-4B96-8CB3-3CDF492F23EA}" type="slidenum">
              <a:rPr lang="de-DE" smtClean="0"/>
              <a:t>‹Nr.›</a:t>
            </a:fld>
            <a:endParaRPr lang="de-DE"/>
          </a:p>
        </p:txBody>
      </p:sp>
    </p:spTree>
    <p:extLst>
      <p:ext uri="{BB962C8B-B14F-4D97-AF65-F5344CB8AC3E}">
        <p14:creationId xmlns:p14="http://schemas.microsoft.com/office/powerpoint/2010/main" val="1112531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de-DE"/>
              <a:t>Mastertitelformat bearbeiten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29842" y="2505075"/>
            <a:ext cx="3868340"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4629150" y="2505075"/>
            <a:ext cx="3887391"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DFA9BA2E-586D-4253-84FB-C435D5EBB0A5}" type="datetime1">
              <a:rPr lang="de-DE" smtClean="0"/>
              <a:t>30.06.25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23A701DC-EF14-4B96-8CB3-3CDF492F23EA}" type="slidenum">
              <a:rPr lang="de-DE" smtClean="0"/>
              <a:t>‹Nr.›</a:t>
            </a:fld>
            <a:endParaRPr lang="de-DE"/>
          </a:p>
        </p:txBody>
      </p:sp>
    </p:spTree>
    <p:extLst>
      <p:ext uri="{BB962C8B-B14F-4D97-AF65-F5344CB8AC3E}">
        <p14:creationId xmlns:p14="http://schemas.microsoft.com/office/powerpoint/2010/main" val="2378480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664D48-BF8B-48F7-86E7-7800E4C6BD95}" type="datetime1">
              <a:rPr lang="de-DE" smtClean="0"/>
              <a:t>30.06.25</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23A701DC-EF14-4B96-8CB3-3CDF492F23EA}" type="slidenum">
              <a:rPr lang="de-DE" smtClean="0"/>
              <a:t>‹Nr.›</a:t>
            </a:fld>
            <a:endParaRPr lang="de-DE"/>
          </a:p>
        </p:txBody>
      </p:sp>
    </p:spTree>
    <p:extLst>
      <p:ext uri="{BB962C8B-B14F-4D97-AF65-F5344CB8AC3E}">
        <p14:creationId xmlns:p14="http://schemas.microsoft.com/office/powerpoint/2010/main" val="2982515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CF390A61-479B-4751-8743-D29AE6B3A49B}" type="datetime1">
              <a:rPr lang="de-DE" smtClean="0"/>
              <a:t>30.06.25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23A701DC-EF14-4B96-8CB3-3CDF492F23EA}" type="slidenum">
              <a:rPr lang="de-DE" smtClean="0"/>
              <a:t>‹Nr.›</a:t>
            </a:fld>
            <a:endParaRPr lang="de-DE"/>
          </a:p>
        </p:txBody>
      </p:sp>
    </p:spTree>
    <p:extLst>
      <p:ext uri="{BB962C8B-B14F-4D97-AF65-F5344CB8AC3E}">
        <p14:creationId xmlns:p14="http://schemas.microsoft.com/office/powerpoint/2010/main" val="3469228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D19F11DD-723A-48D7-B780-289367531B19}" type="datetime1">
              <a:rPr lang="de-DE" smtClean="0"/>
              <a:t>30.06.25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23A701DC-EF14-4B96-8CB3-3CDF492F23EA}" type="slidenum">
              <a:rPr lang="de-DE" smtClean="0"/>
              <a:t>‹Nr.›</a:t>
            </a:fld>
            <a:endParaRPr lang="de-DE"/>
          </a:p>
        </p:txBody>
      </p:sp>
    </p:spTree>
    <p:extLst>
      <p:ext uri="{BB962C8B-B14F-4D97-AF65-F5344CB8AC3E}">
        <p14:creationId xmlns:p14="http://schemas.microsoft.com/office/powerpoint/2010/main" val="3356304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AD78858-87FE-4A52-B510-4E601E00EB63}" type="datetime1">
              <a:rPr lang="de-DE" smtClean="0"/>
              <a:t>30.06.25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23A701DC-EF14-4B96-8CB3-3CDF492F23EA}" type="slidenum">
              <a:rPr lang="de-DE" smtClean="0"/>
              <a:t>‹Nr.›</a:t>
            </a:fld>
            <a:endParaRPr lang="de-DE"/>
          </a:p>
        </p:txBody>
      </p:sp>
    </p:spTree>
    <p:extLst>
      <p:ext uri="{BB962C8B-B14F-4D97-AF65-F5344CB8AC3E}">
        <p14:creationId xmlns:p14="http://schemas.microsoft.com/office/powerpoint/2010/main" val="45178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7D430B8-D74E-4A33-A468-8ECF00A1D3F0}" type="datetime1">
              <a:rPr lang="de-DE" smtClean="0"/>
              <a:t>30.06.25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23A701DC-EF14-4B96-8CB3-3CDF492F23EA}" type="slidenum">
              <a:rPr lang="de-DE" smtClean="0"/>
              <a:t>‹Nr.›</a:t>
            </a:fld>
            <a:endParaRPr lang="de-DE"/>
          </a:p>
        </p:txBody>
      </p:sp>
    </p:spTree>
    <p:extLst>
      <p:ext uri="{BB962C8B-B14F-4D97-AF65-F5344CB8AC3E}">
        <p14:creationId xmlns:p14="http://schemas.microsoft.com/office/powerpoint/2010/main" val="1665374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3BD6E1-837B-4CB3-B356-6A8A116BF626}" type="datetime1">
              <a:rPr lang="de-DE" smtClean="0"/>
              <a:t>30.06.25</a:t>
            </a:fld>
            <a:endParaRPr lang="de-DE"/>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A701DC-EF14-4B96-8CB3-3CDF492F23EA}" type="slidenum">
              <a:rPr lang="de-DE" smtClean="0"/>
              <a:t>‹Nr.›</a:t>
            </a:fld>
            <a:endParaRPr lang="de-DE"/>
          </a:p>
        </p:txBody>
      </p:sp>
    </p:spTree>
    <p:extLst>
      <p:ext uri="{BB962C8B-B14F-4D97-AF65-F5344CB8AC3E}">
        <p14:creationId xmlns:p14="http://schemas.microsoft.com/office/powerpoint/2010/main" val="25523507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3" r:id="rId4"/>
    <p:sldLayoutId id="2147483664" r:id="rId5"/>
    <p:sldLayoutId id="2147483665"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17A582-5A2A-409B-B6B8-762AD83DBEE7}"/>
              </a:ext>
            </a:extLst>
          </p:cNvPr>
          <p:cNvSpPr>
            <a:spLocks noGrp="1"/>
          </p:cNvSpPr>
          <p:nvPr>
            <p:ph type="ctrTitle"/>
          </p:nvPr>
        </p:nvSpPr>
        <p:spPr/>
        <p:txBody>
          <a:bodyPr>
            <a:normAutofit/>
          </a:bodyPr>
          <a:lstStyle/>
          <a:p>
            <a:br>
              <a:rPr lang="de-DE" sz="2200" dirty="0">
                <a:effectLst/>
              </a:rPr>
            </a:br>
            <a:r>
              <a:rPr lang="de-DE" sz="2200" dirty="0">
                <a:effectLst/>
              </a:rPr>
              <a:t>Sitzung 9 (</a:t>
            </a:r>
            <a:r>
              <a:rPr lang="de-DE" sz="2200" dirty="0"/>
              <a:t>30</a:t>
            </a:r>
            <a:r>
              <a:rPr lang="de-DE" sz="2200" dirty="0">
                <a:effectLst/>
              </a:rPr>
              <a:t>.06.2025)</a:t>
            </a:r>
            <a:br>
              <a:rPr lang="de-DE" sz="2200" dirty="0">
                <a:effectLst/>
              </a:rPr>
            </a:br>
            <a:br>
              <a:rPr lang="de-DE" sz="2200" dirty="0">
                <a:effectLst/>
              </a:rPr>
            </a:br>
            <a:r>
              <a:rPr lang="de-DE" sz="1800" dirty="0">
                <a:effectLst/>
              </a:rPr>
              <a:t>Grundlagen der psychologischen Diagnostik und des diagnostischen Prozesses im Kontext des klinisch-neuropsychologischen Anwendungsbereichs </a:t>
            </a:r>
            <a:br>
              <a:rPr lang="de-DE" sz="1800" dirty="0">
                <a:effectLst/>
              </a:rPr>
            </a:br>
            <a:r>
              <a:rPr lang="de-DE" sz="1800" dirty="0">
                <a:effectLst/>
              </a:rPr>
              <a:t>(M-PG-Seminar)</a:t>
            </a:r>
            <a:endParaRPr lang="de-DE" sz="1800" dirty="0"/>
          </a:p>
        </p:txBody>
      </p:sp>
      <p:sp>
        <p:nvSpPr>
          <p:cNvPr id="3" name="Untertitel 2">
            <a:extLst>
              <a:ext uri="{FF2B5EF4-FFF2-40B4-BE49-F238E27FC236}">
                <a16:creationId xmlns:a16="http://schemas.microsoft.com/office/drawing/2014/main" id="{CF1797B9-C9ED-499B-A0B3-E0B6D2303354}"/>
              </a:ext>
            </a:extLst>
          </p:cNvPr>
          <p:cNvSpPr>
            <a:spLocks noGrp="1"/>
          </p:cNvSpPr>
          <p:nvPr>
            <p:ph type="subTitle" idx="1"/>
          </p:nvPr>
        </p:nvSpPr>
        <p:spPr>
          <a:xfrm>
            <a:off x="1143000" y="4467706"/>
            <a:ext cx="6858000" cy="1655762"/>
          </a:xfrm>
        </p:spPr>
        <p:txBody>
          <a:bodyPr>
            <a:normAutofit/>
          </a:bodyPr>
          <a:lstStyle/>
          <a:p>
            <a:r>
              <a:rPr lang="de-DE" sz="1400" dirty="0"/>
              <a:t>Dr. rer. nat. Philipp Bierwirth</a:t>
            </a:r>
          </a:p>
          <a:p>
            <a:r>
              <a:rPr lang="de-DE" sz="1400" dirty="0"/>
              <a:t>Philipps-Universität Marburg</a:t>
            </a:r>
          </a:p>
          <a:p>
            <a:r>
              <a:rPr lang="de-DE" sz="1400" dirty="0"/>
              <a:t>Differentielle Psychologie und Persönlichkeitsforschung</a:t>
            </a:r>
          </a:p>
          <a:p>
            <a:r>
              <a:rPr lang="de-DE" sz="1400" dirty="0"/>
              <a:t>Sommersemester 2025</a:t>
            </a:r>
          </a:p>
          <a:p>
            <a:endParaRPr lang="de-DE" sz="1600" dirty="0"/>
          </a:p>
        </p:txBody>
      </p:sp>
      <p:sp>
        <p:nvSpPr>
          <p:cNvPr id="4" name="Datumsplatzhalter 3">
            <a:extLst>
              <a:ext uri="{FF2B5EF4-FFF2-40B4-BE49-F238E27FC236}">
                <a16:creationId xmlns:a16="http://schemas.microsoft.com/office/drawing/2014/main" id="{64D9D0F2-1A13-4962-B799-43ACCB7699CC}"/>
              </a:ext>
            </a:extLst>
          </p:cNvPr>
          <p:cNvSpPr>
            <a:spLocks noGrp="1"/>
          </p:cNvSpPr>
          <p:nvPr>
            <p:ph type="dt" sz="half" idx="10"/>
          </p:nvPr>
        </p:nvSpPr>
        <p:spPr/>
        <p:txBody>
          <a:bodyPr/>
          <a:lstStyle/>
          <a:p>
            <a:fld id="{D22A28AE-251D-4F6B-BF6A-717927551294}" type="datetime1">
              <a:rPr lang="de-DE" smtClean="0"/>
              <a:t>30.06.25</a:t>
            </a:fld>
            <a:endParaRPr lang="de-DE" dirty="0"/>
          </a:p>
        </p:txBody>
      </p:sp>
      <p:sp>
        <p:nvSpPr>
          <p:cNvPr id="5" name="Foliennummernplatzhalter 4">
            <a:extLst>
              <a:ext uri="{FF2B5EF4-FFF2-40B4-BE49-F238E27FC236}">
                <a16:creationId xmlns:a16="http://schemas.microsoft.com/office/drawing/2014/main" id="{E7874DB6-823B-4FB8-AE61-E3CD8284B67A}"/>
              </a:ext>
            </a:extLst>
          </p:cNvPr>
          <p:cNvSpPr>
            <a:spLocks noGrp="1"/>
          </p:cNvSpPr>
          <p:nvPr>
            <p:ph type="sldNum" sz="quarter" idx="12"/>
          </p:nvPr>
        </p:nvSpPr>
        <p:spPr/>
        <p:txBody>
          <a:bodyPr/>
          <a:lstStyle/>
          <a:p>
            <a:fld id="{23A701DC-EF14-4B96-8CB3-3CDF492F23EA}" type="slidenum">
              <a:rPr lang="de-DE" smtClean="0"/>
              <a:pPr/>
              <a:t>1</a:t>
            </a:fld>
            <a:endParaRPr lang="de-DE" dirty="0"/>
          </a:p>
        </p:txBody>
      </p:sp>
    </p:spTree>
    <p:extLst>
      <p:ext uri="{BB962C8B-B14F-4D97-AF65-F5344CB8AC3E}">
        <p14:creationId xmlns:p14="http://schemas.microsoft.com/office/powerpoint/2010/main" val="2567602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C89523-2819-E6A3-A0B3-4F385F633B63}"/>
              </a:ext>
            </a:extLst>
          </p:cNvPr>
          <p:cNvSpPr>
            <a:spLocks noGrp="1"/>
          </p:cNvSpPr>
          <p:nvPr>
            <p:ph type="title"/>
          </p:nvPr>
        </p:nvSpPr>
        <p:spPr/>
        <p:txBody>
          <a:bodyPr/>
          <a:lstStyle/>
          <a:p>
            <a:r>
              <a:rPr lang="de-DE" dirty="0"/>
              <a:t>Wiederholung</a:t>
            </a:r>
          </a:p>
        </p:txBody>
      </p:sp>
      <p:sp>
        <p:nvSpPr>
          <p:cNvPr id="4" name="Datumsplatzhalter 3">
            <a:extLst>
              <a:ext uri="{FF2B5EF4-FFF2-40B4-BE49-F238E27FC236}">
                <a16:creationId xmlns:a16="http://schemas.microsoft.com/office/drawing/2014/main" id="{C9B325EF-3240-DD07-3384-D9055BE2C41A}"/>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8FBEBF4F-D220-6B2B-D876-A56C33E1E0BE}"/>
              </a:ext>
            </a:extLst>
          </p:cNvPr>
          <p:cNvSpPr>
            <a:spLocks noGrp="1"/>
          </p:cNvSpPr>
          <p:nvPr>
            <p:ph type="sldNum" sz="quarter" idx="12"/>
          </p:nvPr>
        </p:nvSpPr>
        <p:spPr/>
        <p:txBody>
          <a:bodyPr/>
          <a:lstStyle/>
          <a:p>
            <a:fld id="{23A701DC-EF14-4B96-8CB3-3CDF492F23EA}" type="slidenum">
              <a:rPr lang="de-DE" smtClean="0"/>
              <a:pPr/>
              <a:t>2</a:t>
            </a:fld>
            <a:endParaRPr lang="de-DE" dirty="0"/>
          </a:p>
        </p:txBody>
      </p:sp>
      <p:sp>
        <p:nvSpPr>
          <p:cNvPr id="6" name="Inhaltsplatzhalter 2">
            <a:extLst>
              <a:ext uri="{FF2B5EF4-FFF2-40B4-BE49-F238E27FC236}">
                <a16:creationId xmlns:a16="http://schemas.microsoft.com/office/drawing/2014/main" id="{EFC2C987-297B-2FAA-E813-0528C502BAF0}"/>
              </a:ext>
            </a:extLst>
          </p:cNvPr>
          <p:cNvSpPr txBox="1">
            <a:spLocks/>
          </p:cNvSpPr>
          <p:nvPr/>
        </p:nvSpPr>
        <p:spPr>
          <a:xfrm>
            <a:off x="746358" y="3566319"/>
            <a:ext cx="7651284" cy="214415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1600" dirty="0"/>
              <a:t>Dabei sollte man immer die folgenden wichtigen psychometrischen Prinzipien beachten, wenn multiple (neuropsychologische) Leistungstests eingesetzt:</a:t>
            </a:r>
          </a:p>
          <a:p>
            <a:pPr marL="0" indent="0">
              <a:buNone/>
            </a:pPr>
            <a:r>
              <a:rPr lang="de-DE" sz="1600" dirty="0"/>
              <a:t> </a:t>
            </a:r>
          </a:p>
          <a:p>
            <a:pPr marL="342900" indent="-342900">
              <a:buFont typeface="+mj-lt"/>
              <a:buAutoNum type="arabicPeriod"/>
            </a:pPr>
            <a:r>
              <a:rPr lang="de-DE" sz="1600" dirty="0"/>
              <a:t>Je größer die </a:t>
            </a:r>
            <a:r>
              <a:rPr lang="de-DE" sz="1600" b="1" dirty="0"/>
              <a:t>Anzahl an Tests</a:t>
            </a:r>
            <a:r>
              <a:rPr lang="de-DE" sz="1600" dirty="0"/>
              <a:t>, desto wahrscheinlicher werden niedrige/auffällige Werte</a:t>
            </a:r>
          </a:p>
          <a:p>
            <a:pPr marL="342900" indent="-342900">
              <a:buFont typeface="+mj-lt"/>
              <a:buAutoNum type="arabicPeriod"/>
            </a:pPr>
            <a:endParaRPr lang="de-DE" sz="1600" dirty="0"/>
          </a:p>
          <a:p>
            <a:pPr marL="342900" indent="-342900">
              <a:buFont typeface="+mj-lt"/>
              <a:buAutoNum type="arabicPeriod"/>
            </a:pPr>
            <a:r>
              <a:rPr lang="de-DE" sz="1600" dirty="0"/>
              <a:t>Je </a:t>
            </a:r>
            <a:r>
              <a:rPr lang="de-DE" sz="1600" b="1" dirty="0"/>
              <a:t>höher</a:t>
            </a:r>
            <a:r>
              <a:rPr lang="de-DE" sz="1600" dirty="0"/>
              <a:t> </a:t>
            </a:r>
            <a:r>
              <a:rPr lang="de-DE" sz="1600" b="1" dirty="0"/>
              <a:t>der Cut-off Wert</a:t>
            </a:r>
            <a:r>
              <a:rPr lang="de-DE" sz="1600" dirty="0"/>
              <a:t>, desto wahrscheinlicher werden niedrige/auffällige Werte</a:t>
            </a:r>
          </a:p>
        </p:txBody>
      </p:sp>
      <p:pic>
        <p:nvPicPr>
          <p:cNvPr id="7" name="Grafik 6">
            <a:extLst>
              <a:ext uri="{FF2B5EF4-FFF2-40B4-BE49-F238E27FC236}">
                <a16:creationId xmlns:a16="http://schemas.microsoft.com/office/drawing/2014/main" id="{6440C053-C4CD-96C8-AC5A-35A89764FE2F}"/>
              </a:ext>
            </a:extLst>
          </p:cNvPr>
          <p:cNvPicPr>
            <a:picLocks noChangeAspect="1"/>
          </p:cNvPicPr>
          <p:nvPr/>
        </p:nvPicPr>
        <p:blipFill rotWithShape="1">
          <a:blip r:embed="rId2"/>
          <a:srcRect l="10217" t="61352" b="24370"/>
          <a:stretch/>
        </p:blipFill>
        <p:spPr>
          <a:xfrm>
            <a:off x="830510" y="2522619"/>
            <a:ext cx="7256477" cy="685730"/>
          </a:xfrm>
          <a:prstGeom prst="rect">
            <a:avLst/>
          </a:prstGeom>
          <a:ln w="28575">
            <a:solidFill>
              <a:schemeClr val="tx1"/>
            </a:solidFill>
          </a:ln>
        </p:spPr>
      </p:pic>
      <p:sp>
        <p:nvSpPr>
          <p:cNvPr id="8" name="Textfeld 7">
            <a:extLst>
              <a:ext uri="{FF2B5EF4-FFF2-40B4-BE49-F238E27FC236}">
                <a16:creationId xmlns:a16="http://schemas.microsoft.com/office/drawing/2014/main" id="{C845BCAA-9744-45C2-1006-D15AD0DFB5B4}"/>
              </a:ext>
            </a:extLst>
          </p:cNvPr>
          <p:cNvSpPr txBox="1"/>
          <p:nvPr/>
        </p:nvSpPr>
        <p:spPr>
          <a:xfrm>
            <a:off x="830510" y="1850273"/>
            <a:ext cx="7256476" cy="369332"/>
          </a:xfrm>
          <a:prstGeom prst="rect">
            <a:avLst/>
          </a:prstGeom>
          <a:noFill/>
        </p:spPr>
        <p:txBody>
          <a:bodyPr wrap="square" rtlCol="0">
            <a:spAutoFit/>
          </a:bodyPr>
          <a:lstStyle/>
          <a:p>
            <a:r>
              <a:rPr lang="de-DE" dirty="0"/>
              <a:t>DSM-V-Kriterium </a:t>
            </a:r>
            <a:r>
              <a:rPr lang="de-DE" i="1" dirty="0"/>
              <a:t>A.2. </a:t>
            </a:r>
            <a:r>
              <a:rPr lang="de-DE" dirty="0"/>
              <a:t>für die Diagnose der „Major </a:t>
            </a:r>
            <a:r>
              <a:rPr lang="de-DE" dirty="0" err="1"/>
              <a:t>Neurocognitive</a:t>
            </a:r>
            <a:r>
              <a:rPr lang="de-DE" dirty="0"/>
              <a:t> </a:t>
            </a:r>
            <a:r>
              <a:rPr lang="de-DE" dirty="0" err="1"/>
              <a:t>Disorder</a:t>
            </a:r>
            <a:r>
              <a:rPr lang="de-DE" dirty="0"/>
              <a:t>“</a:t>
            </a:r>
          </a:p>
        </p:txBody>
      </p:sp>
    </p:spTree>
    <p:extLst>
      <p:ext uri="{BB962C8B-B14F-4D97-AF65-F5344CB8AC3E}">
        <p14:creationId xmlns:p14="http://schemas.microsoft.com/office/powerpoint/2010/main" val="228015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A9C07E-703D-ED59-D28A-BDC4AD5331B0}"/>
              </a:ext>
            </a:extLst>
          </p:cNvPr>
          <p:cNvSpPr>
            <a:spLocks noGrp="1"/>
          </p:cNvSpPr>
          <p:nvPr>
            <p:ph type="title"/>
          </p:nvPr>
        </p:nvSpPr>
        <p:spPr/>
        <p:txBody>
          <a:bodyPr/>
          <a:lstStyle/>
          <a:p>
            <a:r>
              <a:rPr lang="de-DE" dirty="0"/>
              <a:t>Wiederholung</a:t>
            </a:r>
          </a:p>
        </p:txBody>
      </p:sp>
      <p:sp>
        <p:nvSpPr>
          <p:cNvPr id="3" name="Inhaltsplatzhalter 2">
            <a:extLst>
              <a:ext uri="{FF2B5EF4-FFF2-40B4-BE49-F238E27FC236}">
                <a16:creationId xmlns:a16="http://schemas.microsoft.com/office/drawing/2014/main" id="{8F330E44-81B8-313D-8150-6A63BC968D4E}"/>
              </a:ext>
            </a:extLst>
          </p:cNvPr>
          <p:cNvSpPr>
            <a:spLocks noGrp="1"/>
          </p:cNvSpPr>
          <p:nvPr>
            <p:ph idx="1"/>
          </p:nvPr>
        </p:nvSpPr>
        <p:spPr/>
        <p:txBody>
          <a:bodyPr/>
          <a:lstStyle/>
          <a:p>
            <a:pPr marL="0" indent="0">
              <a:buNone/>
            </a:pPr>
            <a:r>
              <a:rPr lang="de-DE" dirty="0"/>
              <a:t>3. Die Anzahl an auffälligen Werten hängt mit dem allgemeinen Intelligenzniveau sowie weiteren demographischen Variablen (z.B. der Schulbildung) zusammen. </a:t>
            </a:r>
          </a:p>
        </p:txBody>
      </p:sp>
      <p:sp>
        <p:nvSpPr>
          <p:cNvPr id="4" name="Datumsplatzhalter 3">
            <a:extLst>
              <a:ext uri="{FF2B5EF4-FFF2-40B4-BE49-F238E27FC236}">
                <a16:creationId xmlns:a16="http://schemas.microsoft.com/office/drawing/2014/main" id="{6549B3F3-67A0-A9BE-8302-8676C33B98A4}"/>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EC64E54B-840D-FE07-5FAC-690E48A4FB45}"/>
              </a:ext>
            </a:extLst>
          </p:cNvPr>
          <p:cNvSpPr>
            <a:spLocks noGrp="1"/>
          </p:cNvSpPr>
          <p:nvPr>
            <p:ph type="sldNum" sz="quarter" idx="12"/>
          </p:nvPr>
        </p:nvSpPr>
        <p:spPr/>
        <p:txBody>
          <a:bodyPr/>
          <a:lstStyle/>
          <a:p>
            <a:fld id="{23A701DC-EF14-4B96-8CB3-3CDF492F23EA}" type="slidenum">
              <a:rPr lang="de-DE" smtClean="0"/>
              <a:pPr/>
              <a:t>3</a:t>
            </a:fld>
            <a:endParaRPr lang="de-DE" dirty="0"/>
          </a:p>
        </p:txBody>
      </p:sp>
      <p:pic>
        <p:nvPicPr>
          <p:cNvPr id="6" name="Grafik 5">
            <a:extLst>
              <a:ext uri="{FF2B5EF4-FFF2-40B4-BE49-F238E27FC236}">
                <a16:creationId xmlns:a16="http://schemas.microsoft.com/office/drawing/2014/main" id="{7CEFE644-4A4F-FAC9-C0B4-19CF63772005}"/>
              </a:ext>
            </a:extLst>
          </p:cNvPr>
          <p:cNvPicPr>
            <a:picLocks noChangeAspect="1"/>
          </p:cNvPicPr>
          <p:nvPr/>
        </p:nvPicPr>
        <p:blipFill>
          <a:blip r:embed="rId2"/>
          <a:stretch>
            <a:fillRect/>
          </a:stretch>
        </p:blipFill>
        <p:spPr>
          <a:xfrm>
            <a:off x="628650" y="3328332"/>
            <a:ext cx="3828151" cy="2045282"/>
          </a:xfrm>
          <a:prstGeom prst="rect">
            <a:avLst/>
          </a:prstGeom>
        </p:spPr>
      </p:pic>
      <p:pic>
        <p:nvPicPr>
          <p:cNvPr id="7" name="Grafik 6">
            <a:extLst>
              <a:ext uri="{FF2B5EF4-FFF2-40B4-BE49-F238E27FC236}">
                <a16:creationId xmlns:a16="http://schemas.microsoft.com/office/drawing/2014/main" id="{DCBA0958-E272-475E-2740-8A759F33EF3E}"/>
              </a:ext>
            </a:extLst>
          </p:cNvPr>
          <p:cNvPicPr>
            <a:picLocks noChangeAspect="1"/>
          </p:cNvPicPr>
          <p:nvPr/>
        </p:nvPicPr>
        <p:blipFill>
          <a:blip r:embed="rId3"/>
          <a:stretch>
            <a:fillRect/>
          </a:stretch>
        </p:blipFill>
        <p:spPr>
          <a:xfrm>
            <a:off x="4594141" y="3361752"/>
            <a:ext cx="3889896" cy="2060719"/>
          </a:xfrm>
          <a:prstGeom prst="rect">
            <a:avLst/>
          </a:prstGeom>
        </p:spPr>
      </p:pic>
      <p:sp>
        <p:nvSpPr>
          <p:cNvPr id="8" name="Textfeld 7">
            <a:extLst>
              <a:ext uri="{FF2B5EF4-FFF2-40B4-BE49-F238E27FC236}">
                <a16:creationId xmlns:a16="http://schemas.microsoft.com/office/drawing/2014/main" id="{4AF12472-9D31-87CD-2ECF-C21699F4D927}"/>
              </a:ext>
            </a:extLst>
          </p:cNvPr>
          <p:cNvSpPr txBox="1"/>
          <p:nvPr/>
        </p:nvSpPr>
        <p:spPr>
          <a:xfrm>
            <a:off x="1015068" y="2992420"/>
            <a:ext cx="3305262" cy="369332"/>
          </a:xfrm>
          <a:prstGeom prst="rect">
            <a:avLst/>
          </a:prstGeom>
          <a:noFill/>
        </p:spPr>
        <p:txBody>
          <a:bodyPr wrap="square" rtlCol="0">
            <a:spAutoFit/>
          </a:bodyPr>
          <a:lstStyle/>
          <a:p>
            <a:pPr algn="ctr"/>
            <a:r>
              <a:rPr lang="de-DE" dirty="0"/>
              <a:t>Cut-off: 16% Perzentil</a:t>
            </a:r>
          </a:p>
        </p:txBody>
      </p:sp>
      <p:sp>
        <p:nvSpPr>
          <p:cNvPr id="9" name="Textfeld 8">
            <a:extLst>
              <a:ext uri="{FF2B5EF4-FFF2-40B4-BE49-F238E27FC236}">
                <a16:creationId xmlns:a16="http://schemas.microsoft.com/office/drawing/2014/main" id="{3DE24DE6-1957-E851-1F6F-2B2FE38F6E0D}"/>
              </a:ext>
            </a:extLst>
          </p:cNvPr>
          <p:cNvSpPr txBox="1"/>
          <p:nvPr/>
        </p:nvSpPr>
        <p:spPr>
          <a:xfrm>
            <a:off x="5033394" y="3026131"/>
            <a:ext cx="3252427" cy="369332"/>
          </a:xfrm>
          <a:prstGeom prst="rect">
            <a:avLst/>
          </a:prstGeom>
          <a:noFill/>
        </p:spPr>
        <p:txBody>
          <a:bodyPr wrap="square" rtlCol="0">
            <a:spAutoFit/>
          </a:bodyPr>
          <a:lstStyle/>
          <a:p>
            <a:pPr algn="ctr"/>
            <a:r>
              <a:rPr lang="de-DE" dirty="0"/>
              <a:t>Cut-off: 5% Perzentil</a:t>
            </a:r>
          </a:p>
        </p:txBody>
      </p:sp>
    </p:spTree>
    <p:extLst>
      <p:ext uri="{BB962C8B-B14F-4D97-AF65-F5344CB8AC3E}">
        <p14:creationId xmlns:p14="http://schemas.microsoft.com/office/powerpoint/2010/main" val="145544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9803CB-1CAD-7DF8-A0BD-E6C3FE89F384}"/>
              </a:ext>
            </a:extLst>
          </p:cNvPr>
          <p:cNvSpPr>
            <a:spLocks noGrp="1"/>
          </p:cNvSpPr>
          <p:nvPr>
            <p:ph type="title"/>
          </p:nvPr>
        </p:nvSpPr>
        <p:spPr/>
        <p:txBody>
          <a:bodyPr/>
          <a:lstStyle/>
          <a:p>
            <a:r>
              <a:rPr lang="de-DE" dirty="0"/>
              <a:t>Problem prämorbides Leistungsniveau</a:t>
            </a:r>
          </a:p>
        </p:txBody>
      </p:sp>
      <p:sp>
        <p:nvSpPr>
          <p:cNvPr id="3" name="Inhaltsplatzhalter 2">
            <a:extLst>
              <a:ext uri="{FF2B5EF4-FFF2-40B4-BE49-F238E27FC236}">
                <a16:creationId xmlns:a16="http://schemas.microsoft.com/office/drawing/2014/main" id="{CF307D56-3879-A8F5-7328-A05AD8F98120}"/>
              </a:ext>
            </a:extLst>
          </p:cNvPr>
          <p:cNvSpPr>
            <a:spLocks noGrp="1"/>
          </p:cNvSpPr>
          <p:nvPr>
            <p:ph idx="1"/>
          </p:nvPr>
        </p:nvSpPr>
        <p:spPr/>
        <p:txBody>
          <a:bodyPr>
            <a:normAutofit/>
          </a:bodyPr>
          <a:lstStyle/>
          <a:p>
            <a:pPr marL="0" indent="0" algn="ctr">
              <a:buNone/>
            </a:pPr>
            <a:r>
              <a:rPr lang="de-DE" sz="1400" dirty="0"/>
              <a:t>Das aktuelle kognitive Leitungsniveau (d.h. die allgemeine Intelligenz) kann ebenfalls reduziert sein im Vergleich zum </a:t>
            </a:r>
            <a:r>
              <a:rPr lang="de-DE" sz="1400" b="1" dirty="0"/>
              <a:t>prämorbiden Niveau</a:t>
            </a:r>
          </a:p>
          <a:p>
            <a:pPr marL="0" indent="0" algn="ctr">
              <a:buNone/>
            </a:pPr>
            <a:endParaRPr lang="de-DE" sz="1400" b="1" dirty="0"/>
          </a:p>
          <a:p>
            <a:pPr marL="0" indent="0" algn="ctr">
              <a:buNone/>
            </a:pPr>
            <a:endParaRPr lang="de-DE" sz="1400" b="1" dirty="0"/>
          </a:p>
          <a:p>
            <a:pPr marL="0" indent="0" algn="ctr">
              <a:buNone/>
            </a:pPr>
            <a:endParaRPr lang="de-DE" sz="1400" b="1" dirty="0"/>
          </a:p>
          <a:p>
            <a:pPr marL="0" indent="0" algn="ctr">
              <a:buNone/>
            </a:pPr>
            <a:endParaRPr lang="de-DE" sz="1400" b="1" dirty="0"/>
          </a:p>
          <a:p>
            <a:pPr marL="0" indent="0" algn="ctr">
              <a:buNone/>
            </a:pPr>
            <a:endParaRPr lang="de-DE" sz="1400" b="1" dirty="0"/>
          </a:p>
          <a:p>
            <a:pPr marL="0" indent="0" algn="ctr">
              <a:buNone/>
            </a:pPr>
            <a:endParaRPr lang="de-DE" sz="1400" b="1" dirty="0"/>
          </a:p>
          <a:p>
            <a:pPr marL="0" indent="0" algn="ctr">
              <a:buNone/>
            </a:pPr>
            <a:endParaRPr lang="de-DE" sz="1400" b="1" dirty="0"/>
          </a:p>
          <a:p>
            <a:pPr marL="0" indent="0">
              <a:buNone/>
            </a:pPr>
            <a:endParaRPr lang="de-DE" sz="1400" dirty="0"/>
          </a:p>
          <a:p>
            <a:pPr marL="0" indent="0">
              <a:buNone/>
            </a:pPr>
            <a:endParaRPr lang="de-DE" sz="1600" dirty="0"/>
          </a:p>
          <a:p>
            <a:pPr marL="0" indent="0">
              <a:buNone/>
            </a:pPr>
            <a:endParaRPr lang="de-DE" b="1" dirty="0"/>
          </a:p>
        </p:txBody>
      </p:sp>
      <p:sp>
        <p:nvSpPr>
          <p:cNvPr id="4" name="Datumsplatzhalter 3">
            <a:extLst>
              <a:ext uri="{FF2B5EF4-FFF2-40B4-BE49-F238E27FC236}">
                <a16:creationId xmlns:a16="http://schemas.microsoft.com/office/drawing/2014/main" id="{23C10C49-9F06-04E0-CBEC-0435250A5C1D}"/>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FEFF21C0-F2AE-10AE-899C-C77703CB22FF}"/>
              </a:ext>
            </a:extLst>
          </p:cNvPr>
          <p:cNvSpPr>
            <a:spLocks noGrp="1"/>
          </p:cNvSpPr>
          <p:nvPr>
            <p:ph type="sldNum" sz="quarter" idx="12"/>
          </p:nvPr>
        </p:nvSpPr>
        <p:spPr/>
        <p:txBody>
          <a:bodyPr/>
          <a:lstStyle/>
          <a:p>
            <a:fld id="{23A701DC-EF14-4B96-8CB3-3CDF492F23EA}" type="slidenum">
              <a:rPr lang="de-DE" smtClean="0"/>
              <a:pPr/>
              <a:t>4</a:t>
            </a:fld>
            <a:endParaRPr lang="de-DE" dirty="0"/>
          </a:p>
        </p:txBody>
      </p:sp>
      <p:pic>
        <p:nvPicPr>
          <p:cNvPr id="11" name="Grafik 10">
            <a:extLst>
              <a:ext uri="{FF2B5EF4-FFF2-40B4-BE49-F238E27FC236}">
                <a16:creationId xmlns:a16="http://schemas.microsoft.com/office/drawing/2014/main" id="{3968D0C8-5CEE-4DA4-83EF-8D8A095705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39515" y="2828131"/>
            <a:ext cx="3876675" cy="1800225"/>
          </a:xfrm>
          <a:prstGeom prst="rect">
            <a:avLst/>
          </a:prstGeom>
        </p:spPr>
      </p:pic>
      <p:cxnSp>
        <p:nvCxnSpPr>
          <p:cNvPr id="14" name="Gerader Verbinder 13">
            <a:extLst>
              <a:ext uri="{FF2B5EF4-FFF2-40B4-BE49-F238E27FC236}">
                <a16:creationId xmlns:a16="http://schemas.microsoft.com/office/drawing/2014/main" id="{C53DA310-5B82-EB2C-A282-91603F811C21}"/>
              </a:ext>
            </a:extLst>
          </p:cNvPr>
          <p:cNvCxnSpPr>
            <a:cxnSpLocks/>
          </p:cNvCxnSpPr>
          <p:nvPr/>
        </p:nvCxnSpPr>
        <p:spPr>
          <a:xfrm>
            <a:off x="5296366" y="4051140"/>
            <a:ext cx="0" cy="53715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 name="Multiplikationszeichen 11">
            <a:extLst>
              <a:ext uri="{FF2B5EF4-FFF2-40B4-BE49-F238E27FC236}">
                <a16:creationId xmlns:a16="http://schemas.microsoft.com/office/drawing/2014/main" id="{C5D18366-2B02-2F52-0253-56D456132690}"/>
              </a:ext>
            </a:extLst>
          </p:cNvPr>
          <p:cNvSpPr/>
          <p:nvPr/>
        </p:nvSpPr>
        <p:spPr>
          <a:xfrm rot="911838">
            <a:off x="5088950" y="3809474"/>
            <a:ext cx="427532" cy="441299"/>
          </a:xfrm>
          <a:prstGeom prst="mathMultiply">
            <a:avLst>
              <a:gd name="adj1" fmla="val 6597"/>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6" name="Gerader Verbinder 15">
            <a:extLst>
              <a:ext uri="{FF2B5EF4-FFF2-40B4-BE49-F238E27FC236}">
                <a16:creationId xmlns:a16="http://schemas.microsoft.com/office/drawing/2014/main" id="{297618B9-8862-DD05-3B9E-E78769F0E8CF}"/>
              </a:ext>
            </a:extLst>
          </p:cNvPr>
          <p:cNvCxnSpPr>
            <a:cxnSpLocks/>
          </p:cNvCxnSpPr>
          <p:nvPr/>
        </p:nvCxnSpPr>
        <p:spPr>
          <a:xfrm>
            <a:off x="4559766" y="3145435"/>
            <a:ext cx="0" cy="1442855"/>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7" name="Multiplikationszeichen 16">
            <a:extLst>
              <a:ext uri="{FF2B5EF4-FFF2-40B4-BE49-F238E27FC236}">
                <a16:creationId xmlns:a16="http://schemas.microsoft.com/office/drawing/2014/main" id="{0CEC413A-B363-5158-8B10-FB2AD3A750B6}"/>
              </a:ext>
            </a:extLst>
          </p:cNvPr>
          <p:cNvSpPr/>
          <p:nvPr/>
        </p:nvSpPr>
        <p:spPr>
          <a:xfrm rot="574623">
            <a:off x="4346000" y="2901860"/>
            <a:ext cx="427532" cy="441299"/>
          </a:xfrm>
          <a:prstGeom prst="mathMultiply">
            <a:avLst>
              <a:gd name="adj1" fmla="val 6597"/>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0" name="Gerade Verbindung mit Pfeil 19">
            <a:extLst>
              <a:ext uri="{FF2B5EF4-FFF2-40B4-BE49-F238E27FC236}">
                <a16:creationId xmlns:a16="http://schemas.microsoft.com/office/drawing/2014/main" id="{2316CBF0-29C4-D499-1420-4B7491EDF364}"/>
              </a:ext>
            </a:extLst>
          </p:cNvPr>
          <p:cNvCxnSpPr/>
          <p:nvPr/>
        </p:nvCxnSpPr>
        <p:spPr>
          <a:xfrm flipV="1">
            <a:off x="5390687" y="3536886"/>
            <a:ext cx="484701" cy="3429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Gerade Verbindung mit Pfeil 20">
            <a:extLst>
              <a:ext uri="{FF2B5EF4-FFF2-40B4-BE49-F238E27FC236}">
                <a16:creationId xmlns:a16="http://schemas.microsoft.com/office/drawing/2014/main" id="{2D40F23E-34C0-69E8-95DC-4C7523F0B51A}"/>
              </a:ext>
            </a:extLst>
          </p:cNvPr>
          <p:cNvCxnSpPr/>
          <p:nvPr/>
        </p:nvCxnSpPr>
        <p:spPr>
          <a:xfrm flipV="1">
            <a:off x="4691371" y="2614613"/>
            <a:ext cx="484701" cy="3429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2" name="Textfeld 21">
            <a:extLst>
              <a:ext uri="{FF2B5EF4-FFF2-40B4-BE49-F238E27FC236}">
                <a16:creationId xmlns:a16="http://schemas.microsoft.com/office/drawing/2014/main" id="{F1615E76-2AE2-E426-1F15-0315FAD92AC9}"/>
              </a:ext>
            </a:extLst>
          </p:cNvPr>
          <p:cNvSpPr txBox="1"/>
          <p:nvPr/>
        </p:nvSpPr>
        <p:spPr>
          <a:xfrm>
            <a:off x="5038583" y="2302075"/>
            <a:ext cx="2505507" cy="954107"/>
          </a:xfrm>
          <a:prstGeom prst="rect">
            <a:avLst/>
          </a:prstGeom>
          <a:noFill/>
        </p:spPr>
        <p:txBody>
          <a:bodyPr wrap="square" rtlCol="0">
            <a:spAutoFit/>
          </a:bodyPr>
          <a:lstStyle/>
          <a:p>
            <a:pPr algn="ctr"/>
            <a:r>
              <a:rPr lang="de-DE" sz="1400" dirty="0"/>
              <a:t>Aktuelle (d.h. „postmorbide“) kognitive Leistungsfähigkeit</a:t>
            </a:r>
          </a:p>
          <a:p>
            <a:pPr algn="ctr"/>
            <a:r>
              <a:rPr lang="de-DE" sz="1400" dirty="0"/>
              <a:t>(</a:t>
            </a:r>
            <a:r>
              <a:rPr lang="de-DE" sz="1400" i="1" dirty="0" err="1"/>
              <a:t>average</a:t>
            </a:r>
            <a:r>
              <a:rPr lang="de-DE" sz="1400" i="1" dirty="0"/>
              <a:t> </a:t>
            </a:r>
            <a:r>
              <a:rPr lang="de-DE" sz="1400" i="1" dirty="0" err="1"/>
              <a:t>intellectual</a:t>
            </a:r>
            <a:r>
              <a:rPr lang="de-DE" sz="1400" i="1" dirty="0"/>
              <a:t> </a:t>
            </a:r>
            <a:r>
              <a:rPr lang="de-DE" sz="1400" i="1" dirty="0" err="1"/>
              <a:t>ability</a:t>
            </a:r>
            <a:r>
              <a:rPr lang="de-DE" sz="1400" dirty="0"/>
              <a:t>)</a:t>
            </a:r>
          </a:p>
          <a:p>
            <a:pPr algn="ctr"/>
            <a:endParaRPr lang="de-DE" sz="1400" dirty="0"/>
          </a:p>
        </p:txBody>
      </p:sp>
      <p:sp>
        <p:nvSpPr>
          <p:cNvPr id="23" name="Textfeld 22">
            <a:extLst>
              <a:ext uri="{FF2B5EF4-FFF2-40B4-BE49-F238E27FC236}">
                <a16:creationId xmlns:a16="http://schemas.microsoft.com/office/drawing/2014/main" id="{33F3A8DF-90E8-E7D1-80E4-82C14C1A60B7}"/>
              </a:ext>
            </a:extLst>
          </p:cNvPr>
          <p:cNvSpPr txBox="1"/>
          <p:nvPr/>
        </p:nvSpPr>
        <p:spPr>
          <a:xfrm>
            <a:off x="5875388" y="3345679"/>
            <a:ext cx="3333284" cy="738664"/>
          </a:xfrm>
          <a:prstGeom prst="rect">
            <a:avLst/>
          </a:prstGeom>
          <a:noFill/>
        </p:spPr>
        <p:txBody>
          <a:bodyPr wrap="square" rtlCol="0">
            <a:spAutoFit/>
          </a:bodyPr>
          <a:lstStyle/>
          <a:p>
            <a:r>
              <a:rPr lang="de-DE" sz="1400" dirty="0"/>
              <a:t>prämorbide kognitive Leistungsfähigkeit</a:t>
            </a:r>
          </a:p>
          <a:p>
            <a:r>
              <a:rPr lang="de-DE" sz="1400" dirty="0"/>
              <a:t>(</a:t>
            </a:r>
            <a:r>
              <a:rPr lang="de-DE" sz="1400" i="1" dirty="0"/>
              <a:t>superior </a:t>
            </a:r>
            <a:r>
              <a:rPr lang="de-DE" sz="1400" i="1" dirty="0" err="1"/>
              <a:t>intellectual</a:t>
            </a:r>
            <a:r>
              <a:rPr lang="de-DE" sz="1400" i="1" dirty="0"/>
              <a:t> </a:t>
            </a:r>
            <a:r>
              <a:rPr lang="de-DE" sz="1400" i="1" dirty="0" err="1"/>
              <a:t>ability</a:t>
            </a:r>
            <a:r>
              <a:rPr lang="de-DE" sz="1400" dirty="0"/>
              <a:t>)</a:t>
            </a:r>
          </a:p>
          <a:p>
            <a:endParaRPr lang="de-DE" sz="1400" dirty="0"/>
          </a:p>
        </p:txBody>
      </p:sp>
    </p:spTree>
    <p:extLst>
      <p:ext uri="{BB962C8B-B14F-4D97-AF65-F5344CB8AC3E}">
        <p14:creationId xmlns:p14="http://schemas.microsoft.com/office/powerpoint/2010/main" val="240520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2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64DE686-9F74-5BE6-0A68-5E30A6F55106}"/>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200427CF-ED27-C390-DDAB-2E543D770C03}"/>
              </a:ext>
            </a:extLst>
          </p:cNvPr>
          <p:cNvSpPr>
            <a:spLocks noGrp="1"/>
          </p:cNvSpPr>
          <p:nvPr>
            <p:ph type="sldNum" sz="quarter" idx="12"/>
          </p:nvPr>
        </p:nvSpPr>
        <p:spPr/>
        <p:txBody>
          <a:bodyPr/>
          <a:lstStyle/>
          <a:p>
            <a:fld id="{23A701DC-EF14-4B96-8CB3-3CDF492F23EA}" type="slidenum">
              <a:rPr lang="de-DE" smtClean="0"/>
              <a:pPr/>
              <a:t>5</a:t>
            </a:fld>
            <a:endParaRPr lang="de-DE" dirty="0"/>
          </a:p>
        </p:txBody>
      </p:sp>
      <p:pic>
        <p:nvPicPr>
          <p:cNvPr id="6" name="Inhaltsplatzhalter 8">
            <a:extLst>
              <a:ext uri="{FF2B5EF4-FFF2-40B4-BE49-F238E27FC236}">
                <a16:creationId xmlns:a16="http://schemas.microsoft.com/office/drawing/2014/main" id="{A23AE544-9C71-BE61-294E-F9C544A101BC}"/>
              </a:ext>
            </a:extLst>
          </p:cNvPr>
          <p:cNvPicPr>
            <a:picLocks noChangeAspect="1"/>
          </p:cNvPicPr>
          <p:nvPr/>
        </p:nvPicPr>
        <p:blipFill rotWithShape="1">
          <a:blip r:embed="rId2"/>
          <a:srcRect b="89338"/>
          <a:stretch/>
        </p:blipFill>
        <p:spPr>
          <a:xfrm>
            <a:off x="1175708" y="1633375"/>
            <a:ext cx="6716643" cy="716995"/>
          </a:xfrm>
          <a:prstGeom prst="rect">
            <a:avLst/>
          </a:prstGeom>
        </p:spPr>
      </p:pic>
      <p:pic>
        <p:nvPicPr>
          <p:cNvPr id="7" name="Grafik 6">
            <a:extLst>
              <a:ext uri="{FF2B5EF4-FFF2-40B4-BE49-F238E27FC236}">
                <a16:creationId xmlns:a16="http://schemas.microsoft.com/office/drawing/2014/main" id="{54D660A1-2AD7-6C98-D332-F8B980E39F14}"/>
              </a:ext>
            </a:extLst>
          </p:cNvPr>
          <p:cNvPicPr>
            <a:picLocks noChangeAspect="1"/>
          </p:cNvPicPr>
          <p:nvPr/>
        </p:nvPicPr>
        <p:blipFill rotWithShape="1">
          <a:blip r:embed="rId2"/>
          <a:srcRect t="42889"/>
          <a:stretch/>
        </p:blipFill>
        <p:spPr>
          <a:xfrm>
            <a:off x="1274768" y="2334844"/>
            <a:ext cx="6849606" cy="3916680"/>
          </a:xfrm>
          <a:prstGeom prst="rect">
            <a:avLst/>
          </a:prstGeom>
        </p:spPr>
      </p:pic>
      <p:sp>
        <p:nvSpPr>
          <p:cNvPr id="8" name="Rechteck 7">
            <a:extLst>
              <a:ext uri="{FF2B5EF4-FFF2-40B4-BE49-F238E27FC236}">
                <a16:creationId xmlns:a16="http://schemas.microsoft.com/office/drawing/2014/main" id="{E86F9823-6674-DB1F-37D9-0643FD7DC016}"/>
              </a:ext>
            </a:extLst>
          </p:cNvPr>
          <p:cNvSpPr/>
          <p:nvPr/>
        </p:nvSpPr>
        <p:spPr>
          <a:xfrm>
            <a:off x="1529651" y="3969333"/>
            <a:ext cx="6007100" cy="52705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D3B5B7AF-D312-E45E-8521-DD1CEBA59FD0}"/>
              </a:ext>
            </a:extLst>
          </p:cNvPr>
          <p:cNvSpPr/>
          <p:nvPr/>
        </p:nvSpPr>
        <p:spPr>
          <a:xfrm>
            <a:off x="4699571" y="3969333"/>
            <a:ext cx="461666" cy="538298"/>
          </a:xfrm>
          <a:prstGeom prst="rect">
            <a:avLst/>
          </a:prstGeom>
          <a:solidFill>
            <a:srgbClr val="C00000">
              <a:alpha val="2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CAA0C0DB-001E-C22C-926A-1B1AF35D2148}"/>
              </a:ext>
            </a:extLst>
          </p:cNvPr>
          <p:cNvSpPr/>
          <p:nvPr/>
        </p:nvSpPr>
        <p:spPr>
          <a:xfrm>
            <a:off x="1529651" y="4846903"/>
            <a:ext cx="6007100" cy="527050"/>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4333AF67-184D-80A1-9011-842F4DE3894F}"/>
              </a:ext>
            </a:extLst>
          </p:cNvPr>
          <p:cNvSpPr/>
          <p:nvPr/>
        </p:nvSpPr>
        <p:spPr>
          <a:xfrm>
            <a:off x="7041451" y="4846903"/>
            <a:ext cx="477962" cy="527050"/>
          </a:xfrm>
          <a:prstGeom prst="rect">
            <a:avLst/>
          </a:prstGeom>
          <a:solidFill>
            <a:srgbClr val="00B050">
              <a:alpha val="2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feld 11">
            <a:extLst>
              <a:ext uri="{FF2B5EF4-FFF2-40B4-BE49-F238E27FC236}">
                <a16:creationId xmlns:a16="http://schemas.microsoft.com/office/drawing/2014/main" id="{C9AEF92C-3D10-A238-9827-8B5BC8A1058A}"/>
              </a:ext>
            </a:extLst>
          </p:cNvPr>
          <p:cNvSpPr txBox="1"/>
          <p:nvPr/>
        </p:nvSpPr>
        <p:spPr>
          <a:xfrm rot="16200000">
            <a:off x="222045" y="4879595"/>
            <a:ext cx="2153548" cy="461665"/>
          </a:xfrm>
          <a:prstGeom prst="rect">
            <a:avLst/>
          </a:prstGeom>
          <a:noFill/>
        </p:spPr>
        <p:txBody>
          <a:bodyPr wrap="square" rtlCol="0">
            <a:spAutoFit/>
          </a:bodyPr>
          <a:lstStyle/>
          <a:p>
            <a:pPr algn="ctr"/>
            <a:r>
              <a:rPr lang="de-DE" sz="1200" dirty="0"/>
              <a:t>prämorbides</a:t>
            </a:r>
          </a:p>
          <a:p>
            <a:pPr algn="ctr"/>
            <a:r>
              <a:rPr lang="de-DE" sz="1200" dirty="0"/>
              <a:t>Niveau </a:t>
            </a:r>
          </a:p>
        </p:txBody>
      </p:sp>
      <p:sp>
        <p:nvSpPr>
          <p:cNvPr id="13" name="Textfeld 12">
            <a:extLst>
              <a:ext uri="{FF2B5EF4-FFF2-40B4-BE49-F238E27FC236}">
                <a16:creationId xmlns:a16="http://schemas.microsoft.com/office/drawing/2014/main" id="{AF7F2C29-F09D-86C5-89EF-6BC622748C30}"/>
              </a:ext>
            </a:extLst>
          </p:cNvPr>
          <p:cNvSpPr txBox="1"/>
          <p:nvPr/>
        </p:nvSpPr>
        <p:spPr>
          <a:xfrm rot="16200000">
            <a:off x="222046" y="4002025"/>
            <a:ext cx="2153548" cy="461665"/>
          </a:xfrm>
          <a:prstGeom prst="rect">
            <a:avLst/>
          </a:prstGeom>
          <a:noFill/>
        </p:spPr>
        <p:txBody>
          <a:bodyPr wrap="square" rtlCol="0">
            <a:spAutoFit/>
          </a:bodyPr>
          <a:lstStyle/>
          <a:p>
            <a:pPr algn="ctr"/>
            <a:r>
              <a:rPr lang="de-DE" sz="1200" dirty="0"/>
              <a:t>aktuelles</a:t>
            </a:r>
          </a:p>
          <a:p>
            <a:pPr algn="ctr"/>
            <a:r>
              <a:rPr lang="de-DE" sz="1200" dirty="0"/>
              <a:t>Niveau </a:t>
            </a:r>
          </a:p>
        </p:txBody>
      </p:sp>
      <p:sp>
        <p:nvSpPr>
          <p:cNvPr id="14" name="Titel 1">
            <a:extLst>
              <a:ext uri="{FF2B5EF4-FFF2-40B4-BE49-F238E27FC236}">
                <a16:creationId xmlns:a16="http://schemas.microsoft.com/office/drawing/2014/main" id="{9BBD0613-8B5E-64BA-2B90-168927A0745E}"/>
              </a:ext>
            </a:extLst>
          </p:cNvPr>
          <p:cNvSpPr>
            <a:spLocks noGrp="1"/>
          </p:cNvSpPr>
          <p:nvPr>
            <p:ph type="title"/>
          </p:nvPr>
        </p:nvSpPr>
        <p:spPr>
          <a:xfrm>
            <a:off x="628650" y="901699"/>
            <a:ext cx="7886700" cy="839790"/>
          </a:xfrm>
        </p:spPr>
        <p:txBody>
          <a:bodyPr>
            <a:normAutofit/>
          </a:bodyPr>
          <a:lstStyle/>
          <a:p>
            <a:r>
              <a:rPr lang="de-DE" sz="2000" dirty="0"/>
              <a:t>Beispiel: auffällige Anzahl niedriger Werte in der „Wechsler Memory </a:t>
            </a:r>
            <a:r>
              <a:rPr lang="de-DE" sz="2000" dirty="0" err="1"/>
              <a:t>Scale</a:t>
            </a:r>
            <a:r>
              <a:rPr lang="de-DE" sz="2000" dirty="0"/>
              <a:t>“ (WMS) </a:t>
            </a:r>
          </a:p>
        </p:txBody>
      </p:sp>
      <p:sp>
        <p:nvSpPr>
          <p:cNvPr id="15" name="Textfeld 14">
            <a:extLst>
              <a:ext uri="{FF2B5EF4-FFF2-40B4-BE49-F238E27FC236}">
                <a16:creationId xmlns:a16="http://schemas.microsoft.com/office/drawing/2014/main" id="{DC57FD47-FE8F-A9BE-392A-E57186FEAAAC}"/>
              </a:ext>
            </a:extLst>
          </p:cNvPr>
          <p:cNvSpPr txBox="1"/>
          <p:nvPr/>
        </p:nvSpPr>
        <p:spPr>
          <a:xfrm>
            <a:off x="7536751" y="3429000"/>
            <a:ext cx="1497360" cy="461665"/>
          </a:xfrm>
          <a:prstGeom prst="rect">
            <a:avLst/>
          </a:prstGeom>
          <a:noFill/>
        </p:spPr>
        <p:txBody>
          <a:bodyPr wrap="square" rtlCol="0">
            <a:spAutoFit/>
          </a:bodyPr>
          <a:lstStyle/>
          <a:p>
            <a:pPr algn="ctr"/>
            <a:r>
              <a:rPr lang="de-DE" sz="1200" b="1" dirty="0">
                <a:latin typeface="Arial" panose="020B0604020202020204" pitchFamily="34" charset="0"/>
                <a:cs typeface="Arial" panose="020B0604020202020204" pitchFamily="34" charset="0"/>
              </a:rPr>
              <a:t>3 niedrige Werte (&lt; 1 </a:t>
            </a:r>
            <a:r>
              <a:rPr lang="de-DE" sz="1200" b="1" dirty="0" err="1">
                <a:latin typeface="Arial" panose="020B0604020202020204" pitchFamily="34" charset="0"/>
                <a:cs typeface="Arial" panose="020B0604020202020204" pitchFamily="34" charset="0"/>
              </a:rPr>
              <a:t>std</a:t>
            </a:r>
            <a:r>
              <a:rPr lang="de-DE" sz="1200" b="1" dirty="0">
                <a:latin typeface="Arial" panose="020B0604020202020204" pitchFamily="34" charset="0"/>
                <a:cs typeface="Arial" panose="020B0604020202020204" pitchFamily="34" charset="0"/>
              </a:rPr>
              <a:t>) in WMS:</a:t>
            </a:r>
          </a:p>
        </p:txBody>
      </p:sp>
      <p:sp>
        <p:nvSpPr>
          <p:cNvPr id="16" name="Textfeld 15">
            <a:extLst>
              <a:ext uri="{FF2B5EF4-FFF2-40B4-BE49-F238E27FC236}">
                <a16:creationId xmlns:a16="http://schemas.microsoft.com/office/drawing/2014/main" id="{B4ED1C34-AF95-F28F-C6A7-313490565F93}"/>
              </a:ext>
            </a:extLst>
          </p:cNvPr>
          <p:cNvSpPr txBox="1"/>
          <p:nvPr/>
        </p:nvSpPr>
        <p:spPr>
          <a:xfrm>
            <a:off x="7582474" y="4068675"/>
            <a:ext cx="1405913" cy="276999"/>
          </a:xfrm>
          <a:prstGeom prst="rect">
            <a:avLst/>
          </a:prstGeom>
          <a:noFill/>
        </p:spPr>
        <p:txBody>
          <a:bodyPr wrap="square" rtlCol="0">
            <a:spAutoFit/>
          </a:bodyPr>
          <a:lstStyle/>
          <a:p>
            <a:pPr algn="ctr"/>
            <a:r>
              <a:rPr lang="de-DE" sz="1200" dirty="0">
                <a:latin typeface="Arial" panose="020B0604020202020204" pitchFamily="34" charset="0"/>
                <a:cs typeface="Arial" panose="020B0604020202020204" pitchFamily="34" charset="0"/>
              </a:rPr>
              <a:t>unauffällig</a:t>
            </a:r>
          </a:p>
        </p:txBody>
      </p:sp>
      <p:sp>
        <p:nvSpPr>
          <p:cNvPr id="17" name="Textfeld 16">
            <a:extLst>
              <a:ext uri="{FF2B5EF4-FFF2-40B4-BE49-F238E27FC236}">
                <a16:creationId xmlns:a16="http://schemas.microsoft.com/office/drawing/2014/main" id="{96957667-CE39-F22C-6099-544CF6BB980F}"/>
              </a:ext>
            </a:extLst>
          </p:cNvPr>
          <p:cNvSpPr txBox="1"/>
          <p:nvPr/>
        </p:nvSpPr>
        <p:spPr>
          <a:xfrm>
            <a:off x="7582474" y="4932479"/>
            <a:ext cx="1405913" cy="276999"/>
          </a:xfrm>
          <a:prstGeom prst="rect">
            <a:avLst/>
          </a:prstGeom>
          <a:noFill/>
        </p:spPr>
        <p:txBody>
          <a:bodyPr wrap="square" rtlCol="0">
            <a:spAutoFit/>
          </a:bodyPr>
          <a:lstStyle/>
          <a:p>
            <a:pPr algn="ctr"/>
            <a:r>
              <a:rPr lang="de-DE" sz="1200" dirty="0">
                <a:latin typeface="Arial" panose="020B0604020202020204" pitchFamily="34" charset="0"/>
                <a:cs typeface="Arial" panose="020B0604020202020204" pitchFamily="34" charset="0"/>
              </a:rPr>
              <a:t>auffällig</a:t>
            </a:r>
          </a:p>
        </p:txBody>
      </p:sp>
    </p:spTree>
    <p:extLst>
      <p:ext uri="{BB962C8B-B14F-4D97-AF65-F5344CB8AC3E}">
        <p14:creationId xmlns:p14="http://schemas.microsoft.com/office/powerpoint/2010/main" val="298934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9803CB-1CAD-7DF8-A0BD-E6C3FE89F384}"/>
              </a:ext>
            </a:extLst>
          </p:cNvPr>
          <p:cNvSpPr>
            <a:spLocks noGrp="1"/>
          </p:cNvSpPr>
          <p:nvPr>
            <p:ph type="title"/>
          </p:nvPr>
        </p:nvSpPr>
        <p:spPr/>
        <p:txBody>
          <a:bodyPr/>
          <a:lstStyle/>
          <a:p>
            <a:r>
              <a:rPr lang="de-DE" dirty="0"/>
              <a:t>Problem prämorbides Leistungsniveau</a:t>
            </a:r>
          </a:p>
        </p:txBody>
      </p:sp>
      <p:sp>
        <p:nvSpPr>
          <p:cNvPr id="3" name="Inhaltsplatzhalter 2">
            <a:extLst>
              <a:ext uri="{FF2B5EF4-FFF2-40B4-BE49-F238E27FC236}">
                <a16:creationId xmlns:a16="http://schemas.microsoft.com/office/drawing/2014/main" id="{CF307D56-3879-A8F5-7328-A05AD8F98120}"/>
              </a:ext>
            </a:extLst>
          </p:cNvPr>
          <p:cNvSpPr>
            <a:spLocks noGrp="1"/>
          </p:cNvSpPr>
          <p:nvPr>
            <p:ph idx="1"/>
          </p:nvPr>
        </p:nvSpPr>
        <p:spPr/>
        <p:txBody>
          <a:bodyPr>
            <a:normAutofit/>
          </a:bodyPr>
          <a:lstStyle/>
          <a:p>
            <a:pPr marL="0" indent="0" algn="ctr">
              <a:buNone/>
            </a:pPr>
            <a:r>
              <a:rPr lang="de-DE" sz="1400" dirty="0"/>
              <a:t>Das aktuelle kognitive Leitungsniveau (d.h. die allgemeine Intelligenz) kann ebenfalls reduziert sein im Vergleich zum </a:t>
            </a:r>
            <a:r>
              <a:rPr lang="de-DE" sz="1400" b="1" dirty="0"/>
              <a:t>prämorbiden Niveau</a:t>
            </a:r>
          </a:p>
          <a:p>
            <a:pPr marL="0" indent="0" algn="ctr">
              <a:buNone/>
            </a:pPr>
            <a:endParaRPr lang="de-DE" sz="1400" b="1" dirty="0"/>
          </a:p>
          <a:p>
            <a:pPr marL="0" indent="0" algn="ctr">
              <a:buNone/>
            </a:pPr>
            <a:endParaRPr lang="de-DE" sz="1400" b="1" dirty="0"/>
          </a:p>
          <a:p>
            <a:pPr marL="0" indent="0" algn="ctr">
              <a:buNone/>
            </a:pPr>
            <a:endParaRPr lang="de-DE" sz="1400" b="1" dirty="0"/>
          </a:p>
          <a:p>
            <a:pPr marL="0" indent="0" algn="ctr">
              <a:buNone/>
            </a:pPr>
            <a:endParaRPr lang="de-DE" sz="1400" b="1" dirty="0"/>
          </a:p>
          <a:p>
            <a:pPr marL="0" indent="0" algn="ctr">
              <a:buNone/>
            </a:pPr>
            <a:endParaRPr lang="de-DE" sz="1400" b="1" dirty="0"/>
          </a:p>
          <a:p>
            <a:pPr marL="0" indent="0" algn="ctr">
              <a:buNone/>
            </a:pPr>
            <a:endParaRPr lang="de-DE" sz="1400" b="1" dirty="0"/>
          </a:p>
          <a:p>
            <a:pPr marL="0" indent="0" algn="ctr">
              <a:buNone/>
            </a:pPr>
            <a:endParaRPr lang="de-DE" sz="1400" b="1" dirty="0"/>
          </a:p>
          <a:p>
            <a:pPr marL="0" indent="0">
              <a:buNone/>
            </a:pPr>
            <a:endParaRPr lang="de-DE" sz="1400" dirty="0"/>
          </a:p>
          <a:p>
            <a:pPr marL="0" indent="0">
              <a:buNone/>
            </a:pPr>
            <a:r>
              <a:rPr lang="de-DE" sz="1400" dirty="0"/>
              <a:t>Das Ausmaß des erworbenen Defizits/ der erworbenen Defizite kann somit relativ schnell unterschätzt werden:</a:t>
            </a:r>
          </a:p>
          <a:p>
            <a:pPr marL="0" indent="0">
              <a:buNone/>
            </a:pPr>
            <a:r>
              <a:rPr lang="de-DE" sz="1400" dirty="0"/>
              <a:t>Beispiel: Anzahl niedriger/auffälliger Werte in Test-Batterie ist nicht ungewöhnlich für aktuelles kognitives Leistungsniveau, obwohl erhebliche Defizite im Vergleich zu prämorbider Leistungsfähigkeit bestehen. </a:t>
            </a:r>
          </a:p>
          <a:p>
            <a:pPr marL="0" indent="0">
              <a:buNone/>
            </a:pPr>
            <a:endParaRPr lang="de-DE" sz="1600" dirty="0"/>
          </a:p>
          <a:p>
            <a:pPr marL="0" indent="0">
              <a:buNone/>
            </a:pPr>
            <a:endParaRPr lang="de-DE" b="1" dirty="0"/>
          </a:p>
        </p:txBody>
      </p:sp>
      <p:sp>
        <p:nvSpPr>
          <p:cNvPr id="4" name="Datumsplatzhalter 3">
            <a:extLst>
              <a:ext uri="{FF2B5EF4-FFF2-40B4-BE49-F238E27FC236}">
                <a16:creationId xmlns:a16="http://schemas.microsoft.com/office/drawing/2014/main" id="{23C10C49-9F06-04E0-CBEC-0435250A5C1D}"/>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FEFF21C0-F2AE-10AE-899C-C77703CB22FF}"/>
              </a:ext>
            </a:extLst>
          </p:cNvPr>
          <p:cNvSpPr>
            <a:spLocks noGrp="1"/>
          </p:cNvSpPr>
          <p:nvPr>
            <p:ph type="sldNum" sz="quarter" idx="12"/>
          </p:nvPr>
        </p:nvSpPr>
        <p:spPr/>
        <p:txBody>
          <a:bodyPr/>
          <a:lstStyle/>
          <a:p>
            <a:fld id="{23A701DC-EF14-4B96-8CB3-3CDF492F23EA}" type="slidenum">
              <a:rPr lang="de-DE" smtClean="0"/>
              <a:pPr/>
              <a:t>6</a:t>
            </a:fld>
            <a:endParaRPr lang="de-DE" dirty="0"/>
          </a:p>
        </p:txBody>
      </p:sp>
      <p:pic>
        <p:nvPicPr>
          <p:cNvPr id="11" name="Grafik 10">
            <a:extLst>
              <a:ext uri="{FF2B5EF4-FFF2-40B4-BE49-F238E27FC236}">
                <a16:creationId xmlns:a16="http://schemas.microsoft.com/office/drawing/2014/main" id="{3968D0C8-5CEE-4DA4-83EF-8D8A095705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39515" y="2828131"/>
            <a:ext cx="3876675" cy="1800225"/>
          </a:xfrm>
          <a:prstGeom prst="rect">
            <a:avLst/>
          </a:prstGeom>
        </p:spPr>
      </p:pic>
      <p:cxnSp>
        <p:nvCxnSpPr>
          <p:cNvPr id="14" name="Gerader Verbinder 13">
            <a:extLst>
              <a:ext uri="{FF2B5EF4-FFF2-40B4-BE49-F238E27FC236}">
                <a16:creationId xmlns:a16="http://schemas.microsoft.com/office/drawing/2014/main" id="{C53DA310-5B82-EB2C-A282-91603F811C21}"/>
              </a:ext>
            </a:extLst>
          </p:cNvPr>
          <p:cNvCxnSpPr>
            <a:cxnSpLocks/>
          </p:cNvCxnSpPr>
          <p:nvPr/>
        </p:nvCxnSpPr>
        <p:spPr>
          <a:xfrm>
            <a:off x="5296366" y="4051140"/>
            <a:ext cx="0" cy="53715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 name="Multiplikationszeichen 11">
            <a:extLst>
              <a:ext uri="{FF2B5EF4-FFF2-40B4-BE49-F238E27FC236}">
                <a16:creationId xmlns:a16="http://schemas.microsoft.com/office/drawing/2014/main" id="{C5D18366-2B02-2F52-0253-56D456132690}"/>
              </a:ext>
            </a:extLst>
          </p:cNvPr>
          <p:cNvSpPr/>
          <p:nvPr/>
        </p:nvSpPr>
        <p:spPr>
          <a:xfrm rot="911838">
            <a:off x="5088950" y="3809474"/>
            <a:ext cx="427532" cy="441299"/>
          </a:xfrm>
          <a:prstGeom prst="mathMultiply">
            <a:avLst>
              <a:gd name="adj1" fmla="val 6597"/>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6" name="Gerader Verbinder 15">
            <a:extLst>
              <a:ext uri="{FF2B5EF4-FFF2-40B4-BE49-F238E27FC236}">
                <a16:creationId xmlns:a16="http://schemas.microsoft.com/office/drawing/2014/main" id="{297618B9-8862-DD05-3B9E-E78769F0E8CF}"/>
              </a:ext>
            </a:extLst>
          </p:cNvPr>
          <p:cNvCxnSpPr>
            <a:cxnSpLocks/>
          </p:cNvCxnSpPr>
          <p:nvPr/>
        </p:nvCxnSpPr>
        <p:spPr>
          <a:xfrm>
            <a:off x="4559766" y="3145435"/>
            <a:ext cx="0" cy="1442855"/>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7" name="Multiplikationszeichen 16">
            <a:extLst>
              <a:ext uri="{FF2B5EF4-FFF2-40B4-BE49-F238E27FC236}">
                <a16:creationId xmlns:a16="http://schemas.microsoft.com/office/drawing/2014/main" id="{0CEC413A-B363-5158-8B10-FB2AD3A750B6}"/>
              </a:ext>
            </a:extLst>
          </p:cNvPr>
          <p:cNvSpPr/>
          <p:nvPr/>
        </p:nvSpPr>
        <p:spPr>
          <a:xfrm rot="574623">
            <a:off x="4346000" y="2901860"/>
            <a:ext cx="427532" cy="441299"/>
          </a:xfrm>
          <a:prstGeom prst="mathMultiply">
            <a:avLst>
              <a:gd name="adj1" fmla="val 6597"/>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0" name="Gerade Verbindung mit Pfeil 19">
            <a:extLst>
              <a:ext uri="{FF2B5EF4-FFF2-40B4-BE49-F238E27FC236}">
                <a16:creationId xmlns:a16="http://schemas.microsoft.com/office/drawing/2014/main" id="{2316CBF0-29C4-D499-1420-4B7491EDF364}"/>
              </a:ext>
            </a:extLst>
          </p:cNvPr>
          <p:cNvCxnSpPr/>
          <p:nvPr/>
        </p:nvCxnSpPr>
        <p:spPr>
          <a:xfrm flipV="1">
            <a:off x="5390687" y="3536886"/>
            <a:ext cx="484701" cy="3429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Gerade Verbindung mit Pfeil 20">
            <a:extLst>
              <a:ext uri="{FF2B5EF4-FFF2-40B4-BE49-F238E27FC236}">
                <a16:creationId xmlns:a16="http://schemas.microsoft.com/office/drawing/2014/main" id="{2D40F23E-34C0-69E8-95DC-4C7523F0B51A}"/>
              </a:ext>
            </a:extLst>
          </p:cNvPr>
          <p:cNvCxnSpPr/>
          <p:nvPr/>
        </p:nvCxnSpPr>
        <p:spPr>
          <a:xfrm flipV="1">
            <a:off x="4691371" y="2614613"/>
            <a:ext cx="484701" cy="3429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2" name="Textfeld 21">
            <a:extLst>
              <a:ext uri="{FF2B5EF4-FFF2-40B4-BE49-F238E27FC236}">
                <a16:creationId xmlns:a16="http://schemas.microsoft.com/office/drawing/2014/main" id="{F1615E76-2AE2-E426-1F15-0315FAD92AC9}"/>
              </a:ext>
            </a:extLst>
          </p:cNvPr>
          <p:cNvSpPr txBox="1"/>
          <p:nvPr/>
        </p:nvSpPr>
        <p:spPr>
          <a:xfrm>
            <a:off x="5038583" y="2302075"/>
            <a:ext cx="2505507" cy="738664"/>
          </a:xfrm>
          <a:prstGeom prst="rect">
            <a:avLst/>
          </a:prstGeom>
          <a:noFill/>
        </p:spPr>
        <p:txBody>
          <a:bodyPr wrap="square" rtlCol="0">
            <a:spAutoFit/>
          </a:bodyPr>
          <a:lstStyle/>
          <a:p>
            <a:pPr algn="ctr"/>
            <a:r>
              <a:rPr lang="de-DE" sz="1400" dirty="0"/>
              <a:t>Aktuelle (d.h. „postmorbide“) kognitive Leistungsfähigkeit</a:t>
            </a:r>
          </a:p>
          <a:p>
            <a:pPr algn="ctr"/>
            <a:r>
              <a:rPr lang="de-DE" sz="1400" dirty="0"/>
              <a:t>(</a:t>
            </a:r>
            <a:r>
              <a:rPr lang="de-DE" sz="1400" i="1" dirty="0" err="1"/>
              <a:t>average</a:t>
            </a:r>
            <a:r>
              <a:rPr lang="de-DE" sz="1400" i="1" dirty="0"/>
              <a:t> </a:t>
            </a:r>
            <a:r>
              <a:rPr lang="de-DE" sz="1400" i="1" dirty="0" err="1"/>
              <a:t>intellectual</a:t>
            </a:r>
            <a:r>
              <a:rPr lang="de-DE" sz="1400" i="1" dirty="0"/>
              <a:t> </a:t>
            </a:r>
            <a:r>
              <a:rPr lang="de-DE" sz="1400" i="1" dirty="0" err="1"/>
              <a:t>ability</a:t>
            </a:r>
            <a:r>
              <a:rPr lang="de-DE" sz="1400" dirty="0"/>
              <a:t>)</a:t>
            </a:r>
          </a:p>
        </p:txBody>
      </p:sp>
      <p:sp>
        <p:nvSpPr>
          <p:cNvPr id="23" name="Textfeld 22">
            <a:extLst>
              <a:ext uri="{FF2B5EF4-FFF2-40B4-BE49-F238E27FC236}">
                <a16:creationId xmlns:a16="http://schemas.microsoft.com/office/drawing/2014/main" id="{33F3A8DF-90E8-E7D1-80E4-82C14C1A60B7}"/>
              </a:ext>
            </a:extLst>
          </p:cNvPr>
          <p:cNvSpPr txBox="1"/>
          <p:nvPr/>
        </p:nvSpPr>
        <p:spPr>
          <a:xfrm>
            <a:off x="5875388" y="3345679"/>
            <a:ext cx="3333284" cy="738664"/>
          </a:xfrm>
          <a:prstGeom prst="rect">
            <a:avLst/>
          </a:prstGeom>
          <a:noFill/>
        </p:spPr>
        <p:txBody>
          <a:bodyPr wrap="square" rtlCol="0">
            <a:spAutoFit/>
          </a:bodyPr>
          <a:lstStyle/>
          <a:p>
            <a:r>
              <a:rPr lang="de-DE" sz="1400" dirty="0"/>
              <a:t>prämorbide kognitive Leistungsfähigkeit</a:t>
            </a:r>
          </a:p>
          <a:p>
            <a:r>
              <a:rPr lang="de-DE" sz="1400" dirty="0"/>
              <a:t>(</a:t>
            </a:r>
            <a:r>
              <a:rPr lang="de-DE" sz="1400" i="1" dirty="0"/>
              <a:t>superior </a:t>
            </a:r>
            <a:r>
              <a:rPr lang="de-DE" sz="1400" i="1" dirty="0" err="1"/>
              <a:t>intellectual</a:t>
            </a:r>
            <a:r>
              <a:rPr lang="de-DE" sz="1400" i="1" dirty="0"/>
              <a:t> </a:t>
            </a:r>
            <a:r>
              <a:rPr lang="de-DE" sz="1400" i="1" dirty="0" err="1"/>
              <a:t>ability</a:t>
            </a:r>
            <a:r>
              <a:rPr lang="de-DE" sz="1400" dirty="0"/>
              <a:t>)</a:t>
            </a:r>
          </a:p>
          <a:p>
            <a:endParaRPr lang="de-DE" sz="1400" dirty="0"/>
          </a:p>
        </p:txBody>
      </p:sp>
    </p:spTree>
    <p:extLst>
      <p:ext uri="{BB962C8B-B14F-4D97-AF65-F5344CB8AC3E}">
        <p14:creationId xmlns:p14="http://schemas.microsoft.com/office/powerpoint/2010/main" val="1365684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4E441E-4E42-C43F-8373-2EE5B9B666E1}"/>
              </a:ext>
            </a:extLst>
          </p:cNvPr>
          <p:cNvSpPr>
            <a:spLocks noGrp="1"/>
          </p:cNvSpPr>
          <p:nvPr>
            <p:ph type="title"/>
          </p:nvPr>
        </p:nvSpPr>
        <p:spPr/>
        <p:txBody>
          <a:bodyPr>
            <a:normAutofit fontScale="90000"/>
          </a:bodyPr>
          <a:lstStyle/>
          <a:p>
            <a:r>
              <a:rPr lang="de-DE" dirty="0"/>
              <a:t>Potentielle Lösung: Schätzung des prämorbiden Leistungsniveaus</a:t>
            </a:r>
          </a:p>
        </p:txBody>
      </p:sp>
      <p:sp>
        <p:nvSpPr>
          <p:cNvPr id="3" name="Inhaltsplatzhalter 2">
            <a:extLst>
              <a:ext uri="{FF2B5EF4-FFF2-40B4-BE49-F238E27FC236}">
                <a16:creationId xmlns:a16="http://schemas.microsoft.com/office/drawing/2014/main" id="{DB090704-5ADF-61BA-0316-0A84B822F093}"/>
              </a:ext>
            </a:extLst>
          </p:cNvPr>
          <p:cNvSpPr>
            <a:spLocks noGrp="1"/>
          </p:cNvSpPr>
          <p:nvPr>
            <p:ph idx="1"/>
          </p:nvPr>
        </p:nvSpPr>
        <p:spPr/>
        <p:txBody>
          <a:bodyPr>
            <a:normAutofit lnSpcReduction="10000"/>
          </a:bodyPr>
          <a:lstStyle/>
          <a:p>
            <a:pPr marL="0" indent="0">
              <a:buNone/>
            </a:pPr>
            <a:r>
              <a:rPr lang="de-DE" sz="1600" dirty="0"/>
              <a:t>Die Schätzung des prämorbiden Leistungsniveaus ist ein sehr  wichtiger Bestandteil neuropsychologischer Diagnostik</a:t>
            </a:r>
          </a:p>
          <a:p>
            <a:pPr marL="0" indent="0">
              <a:buNone/>
            </a:pPr>
            <a:endParaRPr lang="de-DE" sz="1600" dirty="0"/>
          </a:p>
          <a:p>
            <a:pPr marL="0" indent="0">
              <a:buNone/>
            </a:pPr>
            <a:r>
              <a:rPr lang="de-DE" sz="1600" dirty="0"/>
              <a:t>Diese Schätzung ist sehr wichtig … :</a:t>
            </a:r>
          </a:p>
          <a:p>
            <a:pPr marL="800100" lvl="1" indent="-342900">
              <a:buFont typeface="+mj-lt"/>
              <a:buAutoNum type="arabicPeriod"/>
            </a:pPr>
            <a:endParaRPr lang="de-DE" dirty="0"/>
          </a:p>
          <a:p>
            <a:pPr marL="800100" lvl="1" indent="-342900">
              <a:buFont typeface="+mj-lt"/>
              <a:buAutoNum type="arabicPeriod"/>
            </a:pPr>
            <a:r>
              <a:rPr lang="de-DE" dirty="0"/>
              <a:t>…für eine präzisere Diagnose individueller neurokognitiver Beeinträchtigungen </a:t>
            </a:r>
          </a:p>
          <a:p>
            <a:pPr marL="800100" lvl="1" indent="-342900">
              <a:buFont typeface="+mj-lt"/>
              <a:buAutoNum type="arabicPeriod"/>
            </a:pPr>
            <a:endParaRPr lang="de-DE" dirty="0"/>
          </a:p>
          <a:p>
            <a:pPr marL="800100" lvl="1" indent="-342900">
              <a:buFont typeface="+mj-lt"/>
              <a:buAutoNum type="arabicPeriod"/>
            </a:pPr>
            <a:r>
              <a:rPr lang="de-DE" dirty="0"/>
              <a:t>…um die Ausprägung kognitiver Defizite nach einem Unfall oder einer Erkrankung zu quantifizieren (Auch große Bedeutung für Versicherungsfragen)</a:t>
            </a:r>
          </a:p>
          <a:p>
            <a:pPr marL="800100" lvl="1" indent="-342900">
              <a:buFont typeface="+mj-lt"/>
              <a:buAutoNum type="arabicPeriod"/>
            </a:pPr>
            <a:endParaRPr lang="de-DE" dirty="0"/>
          </a:p>
          <a:p>
            <a:pPr marL="800100" lvl="1" indent="-342900">
              <a:buFont typeface="+mj-lt"/>
              <a:buAutoNum type="arabicPeriod"/>
            </a:pPr>
            <a:r>
              <a:rPr lang="de-DE" dirty="0"/>
              <a:t>…um einzuschätzen, wie weit eine neurodegenerative Erkrankung fortgeschritten ist</a:t>
            </a:r>
          </a:p>
          <a:p>
            <a:pPr marL="800100" lvl="1" indent="-342900">
              <a:buFont typeface="+mj-lt"/>
              <a:buAutoNum type="arabicPeriod"/>
            </a:pPr>
            <a:endParaRPr lang="de-DE" dirty="0"/>
          </a:p>
          <a:p>
            <a:pPr marL="800100" lvl="1" indent="-342900">
              <a:buFont typeface="+mj-lt"/>
              <a:buAutoNum type="arabicPeriod"/>
            </a:pPr>
            <a:r>
              <a:rPr lang="de-DE" dirty="0"/>
              <a:t>… um realistische Behandlungsziele festzulegen</a:t>
            </a:r>
          </a:p>
          <a:p>
            <a:pPr marL="800100" lvl="1" indent="-342900">
              <a:buFont typeface="+mj-lt"/>
              <a:buAutoNum type="arabicPeriod"/>
            </a:pPr>
            <a:endParaRPr lang="de-DE" dirty="0"/>
          </a:p>
          <a:p>
            <a:pPr marL="0" indent="0">
              <a:buNone/>
            </a:pPr>
            <a:endParaRPr lang="de-DE" dirty="0"/>
          </a:p>
        </p:txBody>
      </p:sp>
      <p:sp>
        <p:nvSpPr>
          <p:cNvPr id="4" name="Datumsplatzhalter 3">
            <a:extLst>
              <a:ext uri="{FF2B5EF4-FFF2-40B4-BE49-F238E27FC236}">
                <a16:creationId xmlns:a16="http://schemas.microsoft.com/office/drawing/2014/main" id="{22992D3F-3B5F-0E99-9BF1-6F6EFD5FD925}"/>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25DC0B27-6E5E-AA78-2877-E770448FF378}"/>
              </a:ext>
            </a:extLst>
          </p:cNvPr>
          <p:cNvSpPr>
            <a:spLocks noGrp="1"/>
          </p:cNvSpPr>
          <p:nvPr>
            <p:ph type="sldNum" sz="quarter" idx="12"/>
          </p:nvPr>
        </p:nvSpPr>
        <p:spPr/>
        <p:txBody>
          <a:bodyPr/>
          <a:lstStyle/>
          <a:p>
            <a:fld id="{23A701DC-EF14-4B96-8CB3-3CDF492F23EA}" type="slidenum">
              <a:rPr lang="de-DE" smtClean="0"/>
              <a:pPr/>
              <a:t>7</a:t>
            </a:fld>
            <a:endParaRPr lang="de-DE" dirty="0"/>
          </a:p>
        </p:txBody>
      </p:sp>
    </p:spTree>
    <p:extLst>
      <p:ext uri="{BB962C8B-B14F-4D97-AF65-F5344CB8AC3E}">
        <p14:creationId xmlns:p14="http://schemas.microsoft.com/office/powerpoint/2010/main" val="33219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4C6949-6B72-426A-B2B2-5975E11A386E}"/>
              </a:ext>
            </a:extLst>
          </p:cNvPr>
          <p:cNvSpPr>
            <a:spLocks noGrp="1"/>
          </p:cNvSpPr>
          <p:nvPr>
            <p:ph type="title"/>
          </p:nvPr>
        </p:nvSpPr>
        <p:spPr/>
        <p:txBody>
          <a:bodyPr>
            <a:noAutofit/>
          </a:bodyPr>
          <a:lstStyle/>
          <a:p>
            <a:r>
              <a:rPr lang="de-DE" sz="3000" dirty="0"/>
              <a:t>Wie lässt sich die prämorbide kognitive Leistungsfähigkeit in Patienten schätzen?</a:t>
            </a:r>
          </a:p>
        </p:txBody>
      </p:sp>
    </p:spTree>
    <p:extLst>
      <p:ext uri="{BB962C8B-B14F-4D97-AF65-F5344CB8AC3E}">
        <p14:creationId xmlns:p14="http://schemas.microsoft.com/office/powerpoint/2010/main" val="1499937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C165AA-F300-BD4C-2F53-0DBCC17298F7}"/>
              </a:ext>
            </a:extLst>
          </p:cNvPr>
          <p:cNvSpPr>
            <a:spLocks noGrp="1"/>
          </p:cNvSpPr>
          <p:nvPr>
            <p:ph type="title"/>
          </p:nvPr>
        </p:nvSpPr>
        <p:spPr/>
        <p:txBody>
          <a:bodyPr/>
          <a:lstStyle/>
          <a:p>
            <a:r>
              <a:rPr lang="de-DE" dirty="0"/>
              <a:t>Gruppenarbeit</a:t>
            </a:r>
          </a:p>
        </p:txBody>
      </p:sp>
      <p:sp>
        <p:nvSpPr>
          <p:cNvPr id="3" name="Inhaltsplatzhalter 2">
            <a:extLst>
              <a:ext uri="{FF2B5EF4-FFF2-40B4-BE49-F238E27FC236}">
                <a16:creationId xmlns:a16="http://schemas.microsoft.com/office/drawing/2014/main" id="{EAC93853-57FD-0630-9CC5-BE8A1003DFA5}"/>
              </a:ext>
            </a:extLst>
          </p:cNvPr>
          <p:cNvSpPr>
            <a:spLocks noGrp="1"/>
          </p:cNvSpPr>
          <p:nvPr>
            <p:ph idx="1"/>
          </p:nvPr>
        </p:nvSpPr>
        <p:spPr/>
        <p:txBody>
          <a:bodyPr/>
          <a:lstStyle/>
          <a:p>
            <a:pPr marL="0" indent="0">
              <a:buNone/>
            </a:pPr>
            <a:r>
              <a:rPr lang="de-DE" dirty="0"/>
              <a:t>Bitte überlegen/diskutieren Sie in Kleingruppen (3-4 </a:t>
            </a:r>
            <a:r>
              <a:rPr lang="de-DE"/>
              <a:t>Studierende), </a:t>
            </a:r>
            <a:r>
              <a:rPr lang="de-DE" dirty="0"/>
              <a:t>wie man die prämorbide kognitive Leistungsfähigkeit (d.h. die allgemeine Intelligenz) eines Patienten möglichst zuverlässig schätzen kann.</a:t>
            </a:r>
          </a:p>
          <a:p>
            <a:pPr marL="0" indent="0">
              <a:buNone/>
            </a:pPr>
            <a:endParaRPr lang="de-DE" dirty="0"/>
          </a:p>
          <a:p>
            <a:pPr marL="0" indent="0">
              <a:buNone/>
            </a:pPr>
            <a:r>
              <a:rPr lang="de-DE" dirty="0"/>
              <a:t>Leitfragen:</a:t>
            </a:r>
          </a:p>
          <a:p>
            <a:pPr marL="0" indent="0">
              <a:buNone/>
            </a:pPr>
            <a:endParaRPr lang="de-DE" dirty="0"/>
          </a:p>
          <a:p>
            <a:pPr marL="0" indent="0">
              <a:buNone/>
            </a:pPr>
            <a:r>
              <a:rPr lang="de-DE" sz="1400" dirty="0"/>
              <a:t>Welche Daten eignen sich am besten für die Schätzung (L-, T-, Q-Daten)?</a:t>
            </a:r>
          </a:p>
          <a:p>
            <a:pPr lvl="1"/>
            <a:r>
              <a:rPr lang="de-DE" sz="1400" dirty="0"/>
              <a:t>Fallen Ihnen bestimmte Testverfahren ein, mit denen man das prämorbide Leistungsniveau von Patienten einschätzen kann? (T-Daten)</a:t>
            </a:r>
          </a:p>
          <a:p>
            <a:pPr lvl="1"/>
            <a:r>
              <a:rPr lang="de-DE" sz="1400" dirty="0"/>
              <a:t>Gibt es bestimmte biographische Daten, die man erfassen könnte (L-Daten?)</a:t>
            </a:r>
          </a:p>
          <a:p>
            <a:pPr lvl="1"/>
            <a:r>
              <a:rPr lang="de-DE" sz="1400" dirty="0"/>
              <a:t>Kann man das prämorbide Niveau auch über Fremd- oder Selbst-beurteilungen schätzen? (Q-Daten)  		</a:t>
            </a:r>
          </a:p>
          <a:p>
            <a:pPr marL="0" indent="0">
              <a:buNone/>
            </a:pPr>
            <a:r>
              <a:rPr lang="de-DE" sz="1400" dirty="0"/>
              <a:t>Welche Probleme ergeben sich bei der Schätzung des prämorbiden Leistungsniveaus?</a:t>
            </a:r>
          </a:p>
        </p:txBody>
      </p:sp>
      <p:sp>
        <p:nvSpPr>
          <p:cNvPr id="4" name="Datumsplatzhalter 3">
            <a:extLst>
              <a:ext uri="{FF2B5EF4-FFF2-40B4-BE49-F238E27FC236}">
                <a16:creationId xmlns:a16="http://schemas.microsoft.com/office/drawing/2014/main" id="{B865D84E-C53E-3BED-37A9-C99835804C92}"/>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69316BC6-9FE1-0A8F-51CB-0D74E0C27465}"/>
              </a:ext>
            </a:extLst>
          </p:cNvPr>
          <p:cNvSpPr>
            <a:spLocks noGrp="1"/>
          </p:cNvSpPr>
          <p:nvPr>
            <p:ph type="sldNum" sz="quarter" idx="12"/>
          </p:nvPr>
        </p:nvSpPr>
        <p:spPr/>
        <p:txBody>
          <a:bodyPr/>
          <a:lstStyle/>
          <a:p>
            <a:fld id="{23A701DC-EF14-4B96-8CB3-3CDF492F23EA}" type="slidenum">
              <a:rPr lang="de-DE" smtClean="0"/>
              <a:pPr/>
              <a:t>9</a:t>
            </a:fld>
            <a:endParaRPr lang="de-DE" dirty="0"/>
          </a:p>
        </p:txBody>
      </p:sp>
    </p:spTree>
    <p:extLst>
      <p:ext uri="{BB962C8B-B14F-4D97-AF65-F5344CB8AC3E}">
        <p14:creationId xmlns:p14="http://schemas.microsoft.com/office/powerpoint/2010/main" val="2949685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4C6949-6B72-426A-B2B2-5975E11A386E}"/>
              </a:ext>
            </a:extLst>
          </p:cNvPr>
          <p:cNvSpPr>
            <a:spLocks noGrp="1"/>
          </p:cNvSpPr>
          <p:nvPr>
            <p:ph type="title"/>
          </p:nvPr>
        </p:nvSpPr>
        <p:spPr/>
        <p:txBody>
          <a:bodyPr>
            <a:noAutofit/>
          </a:bodyPr>
          <a:lstStyle/>
          <a:p>
            <a:r>
              <a:rPr lang="de-DE" sz="3000" dirty="0"/>
              <a:t>Schätzung der prämorbiden kognitiven Leistungsfähigkeit von Patienten</a:t>
            </a:r>
          </a:p>
        </p:txBody>
      </p:sp>
    </p:spTree>
    <p:extLst>
      <p:ext uri="{BB962C8B-B14F-4D97-AF65-F5344CB8AC3E}">
        <p14:creationId xmlns:p14="http://schemas.microsoft.com/office/powerpoint/2010/main" val="1997201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F6E7E3-17E9-61FF-4C9B-E7B154EA969F}"/>
              </a:ext>
            </a:extLst>
          </p:cNvPr>
          <p:cNvSpPr>
            <a:spLocks noGrp="1"/>
          </p:cNvSpPr>
          <p:nvPr>
            <p:ph type="title"/>
          </p:nvPr>
        </p:nvSpPr>
        <p:spPr/>
        <p:txBody>
          <a:bodyPr>
            <a:normAutofit fontScale="90000"/>
          </a:bodyPr>
          <a:lstStyle/>
          <a:p>
            <a:r>
              <a:rPr lang="de-DE" sz="3200" dirty="0"/>
              <a:t>Schätzung der prämorbiden kognitiven Leistungsfähigkeit von Patienten</a:t>
            </a:r>
            <a:endParaRPr lang="de-DE" dirty="0"/>
          </a:p>
        </p:txBody>
      </p:sp>
      <p:sp>
        <p:nvSpPr>
          <p:cNvPr id="3" name="Inhaltsplatzhalter 2">
            <a:extLst>
              <a:ext uri="{FF2B5EF4-FFF2-40B4-BE49-F238E27FC236}">
                <a16:creationId xmlns:a16="http://schemas.microsoft.com/office/drawing/2014/main" id="{4695EB9F-DBAB-11A3-0119-C48501DFEA07}"/>
              </a:ext>
            </a:extLst>
          </p:cNvPr>
          <p:cNvSpPr>
            <a:spLocks noGrp="1"/>
          </p:cNvSpPr>
          <p:nvPr>
            <p:ph idx="1"/>
          </p:nvPr>
        </p:nvSpPr>
        <p:spPr/>
        <p:txBody>
          <a:bodyPr/>
          <a:lstStyle/>
          <a:p>
            <a:pPr marL="342900" indent="-342900">
              <a:buFont typeface="+mj-lt"/>
              <a:buAutoNum type="alphaLcPeriod"/>
            </a:pPr>
            <a:endParaRPr lang="de-DE" dirty="0"/>
          </a:p>
          <a:p>
            <a:pPr marL="342900" indent="-342900">
              <a:buFont typeface="+mj-lt"/>
              <a:buAutoNum type="alphaLcPeriod"/>
            </a:pPr>
            <a:r>
              <a:rPr lang="de-DE" b="1" dirty="0"/>
              <a:t>Klinische Urteilsbildung durch biographische Daten</a:t>
            </a:r>
          </a:p>
          <a:p>
            <a:pPr marL="0" indent="0">
              <a:buNone/>
            </a:pPr>
            <a:r>
              <a:rPr lang="de-DE" dirty="0"/>
              <a:t>Diagnostiker/in erhebt Informationen über früheren Zustand des Patienten </a:t>
            </a:r>
          </a:p>
          <a:p>
            <a:pPr marL="0" indent="0">
              <a:buNone/>
            </a:pPr>
            <a:r>
              <a:rPr lang="de-DE" dirty="0"/>
              <a:t>Durch Befragung des Patienten oder der Angehörigen um durch „klinische Urteilsbildung“ die prämorbide kognitive Leistungsfähigkeit zu schätzen. Wichtige Informationen sind u.a.:</a:t>
            </a:r>
          </a:p>
          <a:p>
            <a:pPr marL="0" indent="0">
              <a:buNone/>
            </a:pPr>
            <a:endParaRPr lang="de-DE" dirty="0"/>
          </a:p>
          <a:p>
            <a:pPr lvl="1"/>
            <a:r>
              <a:rPr lang="de-DE" dirty="0"/>
              <a:t>Der ausgeübte Beruf</a:t>
            </a:r>
          </a:p>
          <a:p>
            <a:pPr lvl="1"/>
            <a:r>
              <a:rPr lang="de-DE" dirty="0"/>
              <a:t>Bildungsverlauf</a:t>
            </a:r>
          </a:p>
          <a:p>
            <a:pPr lvl="1"/>
            <a:r>
              <a:rPr lang="de-DE" dirty="0"/>
              <a:t>Hobbys (z.B. lesen (wie oft und welche Lektüre), aktives Musizieren)</a:t>
            </a:r>
          </a:p>
          <a:p>
            <a:pPr lvl="1"/>
            <a:r>
              <a:rPr lang="de-DE" dirty="0"/>
              <a:t>Einschätzung der Leistung von Angehörigen oder direkt durch den Patienten </a:t>
            </a:r>
          </a:p>
        </p:txBody>
      </p:sp>
      <p:sp>
        <p:nvSpPr>
          <p:cNvPr id="4" name="Datumsplatzhalter 3">
            <a:extLst>
              <a:ext uri="{FF2B5EF4-FFF2-40B4-BE49-F238E27FC236}">
                <a16:creationId xmlns:a16="http://schemas.microsoft.com/office/drawing/2014/main" id="{DDCCDCD7-B5AE-EA6A-3EA5-2B7555C1C922}"/>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159C4876-5E6A-9D86-BB08-7F50B61F1F1E}"/>
              </a:ext>
            </a:extLst>
          </p:cNvPr>
          <p:cNvSpPr>
            <a:spLocks noGrp="1"/>
          </p:cNvSpPr>
          <p:nvPr>
            <p:ph type="sldNum" sz="quarter" idx="12"/>
          </p:nvPr>
        </p:nvSpPr>
        <p:spPr/>
        <p:txBody>
          <a:bodyPr/>
          <a:lstStyle/>
          <a:p>
            <a:fld id="{23A701DC-EF14-4B96-8CB3-3CDF492F23EA}" type="slidenum">
              <a:rPr lang="de-DE" smtClean="0"/>
              <a:pPr/>
              <a:t>11</a:t>
            </a:fld>
            <a:endParaRPr lang="de-DE" dirty="0"/>
          </a:p>
        </p:txBody>
      </p:sp>
    </p:spTree>
    <p:extLst>
      <p:ext uri="{BB962C8B-B14F-4D97-AF65-F5344CB8AC3E}">
        <p14:creationId xmlns:p14="http://schemas.microsoft.com/office/powerpoint/2010/main" val="2358283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F6E7E3-17E9-61FF-4C9B-E7B154EA969F}"/>
              </a:ext>
            </a:extLst>
          </p:cNvPr>
          <p:cNvSpPr>
            <a:spLocks noGrp="1"/>
          </p:cNvSpPr>
          <p:nvPr>
            <p:ph type="title"/>
          </p:nvPr>
        </p:nvSpPr>
        <p:spPr/>
        <p:txBody>
          <a:bodyPr>
            <a:normAutofit fontScale="90000"/>
          </a:bodyPr>
          <a:lstStyle/>
          <a:p>
            <a:r>
              <a:rPr lang="de-DE" sz="3200" dirty="0"/>
              <a:t>Schätzung der prämorbiden kognitiven Leistungsfähigkeit von Patienten</a:t>
            </a:r>
            <a:endParaRPr lang="de-DE" dirty="0"/>
          </a:p>
        </p:txBody>
      </p:sp>
      <p:sp>
        <p:nvSpPr>
          <p:cNvPr id="3" name="Inhaltsplatzhalter 2">
            <a:extLst>
              <a:ext uri="{FF2B5EF4-FFF2-40B4-BE49-F238E27FC236}">
                <a16:creationId xmlns:a16="http://schemas.microsoft.com/office/drawing/2014/main" id="{4695EB9F-DBAB-11A3-0119-C48501DFEA07}"/>
              </a:ext>
            </a:extLst>
          </p:cNvPr>
          <p:cNvSpPr>
            <a:spLocks noGrp="1"/>
          </p:cNvSpPr>
          <p:nvPr>
            <p:ph idx="1"/>
          </p:nvPr>
        </p:nvSpPr>
        <p:spPr/>
        <p:txBody>
          <a:bodyPr>
            <a:noAutofit/>
          </a:bodyPr>
          <a:lstStyle/>
          <a:p>
            <a:pPr marL="342900" indent="-342900">
              <a:buFont typeface="+mj-lt"/>
              <a:buAutoNum type="alphaLcPeriod"/>
            </a:pPr>
            <a:endParaRPr lang="de-DE" sz="1600" dirty="0"/>
          </a:p>
          <a:p>
            <a:pPr marL="342900" indent="-342900">
              <a:buFont typeface="+mj-lt"/>
              <a:buAutoNum type="alphaLcPeriod" startAt="2"/>
            </a:pPr>
            <a:r>
              <a:rPr lang="de-DE" sz="1600" b="1" dirty="0"/>
              <a:t>Statistische Urteilsbildung durch biographische Daten</a:t>
            </a:r>
          </a:p>
          <a:p>
            <a:pPr marL="0" indent="0">
              <a:buNone/>
            </a:pPr>
            <a:endParaRPr lang="de-DE" sz="1600" dirty="0"/>
          </a:p>
          <a:p>
            <a:pPr marL="0" indent="0">
              <a:buNone/>
            </a:pPr>
            <a:r>
              <a:rPr lang="de-DE" sz="1600" dirty="0"/>
              <a:t>Anwendung von sog. soziodemographischen Formeln (oder auch Sozialformeln) zur Schätzung des prämorbiden Leistungsniveaus</a:t>
            </a:r>
          </a:p>
          <a:p>
            <a:pPr marL="0" indent="0">
              <a:buNone/>
            </a:pPr>
            <a:endParaRPr lang="de-DE" sz="1600" dirty="0"/>
          </a:p>
          <a:p>
            <a:pPr marL="0" indent="0">
              <a:buNone/>
            </a:pPr>
            <a:r>
              <a:rPr lang="de-DE" sz="1600" dirty="0"/>
              <a:t>Mit unterschiedlichen soziodemographischen Merkmalen, die in der Fachliteratur immer wieder mit der allgemeinen Intelligenz in Verbindung gebracht wurden, kann regressions-analytisch  ein Vorhersagemodell berechnet werden, das die prämorbide Intelligenz „vorhersagt“ </a:t>
            </a:r>
          </a:p>
          <a:p>
            <a:pPr marL="0" indent="0">
              <a:buNone/>
            </a:pPr>
            <a:endParaRPr lang="de-DE" sz="1600" dirty="0"/>
          </a:p>
          <a:p>
            <a:pPr marL="0" indent="0">
              <a:buNone/>
            </a:pPr>
            <a:r>
              <a:rPr lang="de-DE" sz="1600" dirty="0"/>
              <a:t>Merkmalskombinationen, die am besten die allgemeine Intelligenz vorhersagen, werden dann gewichtet in einer (Sozial-)Formel angewandt, mit der man das prämorbide Intelligenzniveau schätzen kann </a:t>
            </a:r>
          </a:p>
          <a:p>
            <a:pPr marL="0" indent="0">
              <a:buNone/>
            </a:pPr>
            <a:endParaRPr lang="de-DE" sz="1600" dirty="0"/>
          </a:p>
          <a:p>
            <a:pPr marL="0" indent="0">
              <a:buNone/>
            </a:pPr>
            <a:endParaRPr lang="de-DE" sz="1600" dirty="0"/>
          </a:p>
          <a:p>
            <a:pPr marL="0" indent="0">
              <a:buNone/>
            </a:pPr>
            <a:r>
              <a:rPr lang="de-DE" sz="1600" dirty="0"/>
              <a:t> </a:t>
            </a:r>
          </a:p>
        </p:txBody>
      </p:sp>
      <p:sp>
        <p:nvSpPr>
          <p:cNvPr id="4" name="Datumsplatzhalter 3">
            <a:extLst>
              <a:ext uri="{FF2B5EF4-FFF2-40B4-BE49-F238E27FC236}">
                <a16:creationId xmlns:a16="http://schemas.microsoft.com/office/drawing/2014/main" id="{DDCCDCD7-B5AE-EA6A-3EA5-2B7555C1C922}"/>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159C4876-5E6A-9D86-BB08-7F50B61F1F1E}"/>
              </a:ext>
            </a:extLst>
          </p:cNvPr>
          <p:cNvSpPr>
            <a:spLocks noGrp="1"/>
          </p:cNvSpPr>
          <p:nvPr>
            <p:ph type="sldNum" sz="quarter" idx="12"/>
          </p:nvPr>
        </p:nvSpPr>
        <p:spPr/>
        <p:txBody>
          <a:bodyPr/>
          <a:lstStyle/>
          <a:p>
            <a:fld id="{23A701DC-EF14-4B96-8CB3-3CDF492F23EA}" type="slidenum">
              <a:rPr lang="de-DE" smtClean="0"/>
              <a:pPr/>
              <a:t>12</a:t>
            </a:fld>
            <a:endParaRPr lang="de-DE" dirty="0"/>
          </a:p>
        </p:txBody>
      </p:sp>
    </p:spTree>
    <p:extLst>
      <p:ext uri="{BB962C8B-B14F-4D97-AF65-F5344CB8AC3E}">
        <p14:creationId xmlns:p14="http://schemas.microsoft.com/office/powerpoint/2010/main" val="3961780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AD2C5F-992F-8466-A487-DCA2381580FE}"/>
              </a:ext>
            </a:extLst>
          </p:cNvPr>
          <p:cNvSpPr>
            <a:spLocks noGrp="1"/>
          </p:cNvSpPr>
          <p:nvPr>
            <p:ph type="title"/>
          </p:nvPr>
        </p:nvSpPr>
        <p:spPr/>
        <p:txBody>
          <a:bodyPr>
            <a:noAutofit/>
          </a:bodyPr>
          <a:lstStyle/>
          <a:p>
            <a:r>
              <a:rPr lang="de-DE" sz="2400" dirty="0"/>
              <a:t>Schätzung der prämorbiden kognitiven Leistungsfähigkeit von Patienten</a:t>
            </a:r>
            <a:endParaRPr lang="de-DE" sz="2400" b="1" dirty="0">
              <a:effectLst/>
            </a:endParaRPr>
          </a:p>
        </p:txBody>
      </p:sp>
      <p:sp>
        <p:nvSpPr>
          <p:cNvPr id="3" name="Inhaltsplatzhalter 2">
            <a:extLst>
              <a:ext uri="{FF2B5EF4-FFF2-40B4-BE49-F238E27FC236}">
                <a16:creationId xmlns:a16="http://schemas.microsoft.com/office/drawing/2014/main" id="{F6362088-2B15-5247-DF90-11829BE3D310}"/>
              </a:ext>
            </a:extLst>
          </p:cNvPr>
          <p:cNvSpPr>
            <a:spLocks noGrp="1"/>
          </p:cNvSpPr>
          <p:nvPr>
            <p:ph idx="1"/>
          </p:nvPr>
        </p:nvSpPr>
        <p:spPr/>
        <p:txBody>
          <a:bodyPr/>
          <a:lstStyle/>
          <a:p>
            <a:pPr marL="0" indent="0">
              <a:buNone/>
            </a:pPr>
            <a:r>
              <a:rPr lang="de-DE" sz="1800" b="1" dirty="0">
                <a:effectLst/>
              </a:rPr>
              <a:t>b. Statistische Urteilsbildung durch biographische Daten</a:t>
            </a:r>
            <a:endParaRPr lang="de-DE" b="1" dirty="0"/>
          </a:p>
          <a:p>
            <a:pPr marL="0" indent="0" algn="l">
              <a:buNone/>
            </a:pPr>
            <a:r>
              <a:rPr lang="de-DE" dirty="0"/>
              <a:t>Jahn et al. (2013). </a:t>
            </a:r>
            <a:r>
              <a:rPr lang="de-DE" sz="1800" b="0" i="1" u="none" strike="noStrike" baseline="0" dirty="0"/>
              <a:t>Drei Sozialformeln zur Schätzung der (prämorbiden) Intelligenzquotienten nach Wechsler</a:t>
            </a:r>
          </a:p>
          <a:p>
            <a:pPr marL="0" indent="0" algn="l">
              <a:buNone/>
            </a:pPr>
            <a:endParaRPr lang="de-DE" i="1" dirty="0"/>
          </a:p>
          <a:p>
            <a:pPr marL="0" indent="0" algn="l">
              <a:buNone/>
            </a:pPr>
            <a:r>
              <a:rPr lang="de-DE" b="1" dirty="0"/>
              <a:t>Stichprobe</a:t>
            </a:r>
          </a:p>
          <a:p>
            <a:pPr marL="0" indent="0" algn="l">
              <a:buNone/>
            </a:pPr>
            <a:r>
              <a:rPr lang="de-DE" dirty="0"/>
              <a:t>612 gesunde Probanden (Bevölkerungsrepräsentativ bzgl. Alter, Geschlecht und Schulabschluss)</a:t>
            </a:r>
          </a:p>
          <a:p>
            <a:pPr marL="0" indent="0" algn="l">
              <a:buNone/>
            </a:pPr>
            <a:r>
              <a:rPr lang="de-DE" b="1" dirty="0"/>
              <a:t>Methoden Teil 1</a:t>
            </a:r>
          </a:p>
          <a:p>
            <a:pPr marL="0" indent="0" algn="l">
              <a:buNone/>
            </a:pPr>
            <a:r>
              <a:rPr lang="de-DE" dirty="0"/>
              <a:t>Erhebung von verschiedenen biographischen und soziodemographischen Variablen </a:t>
            </a:r>
          </a:p>
          <a:p>
            <a:pPr marL="0" indent="0" algn="l">
              <a:buNone/>
            </a:pPr>
            <a:r>
              <a:rPr lang="de-DE" dirty="0"/>
              <a:t>Durchführung eines Wechsler-Intelligenztests (HAWIE-R)</a:t>
            </a:r>
          </a:p>
        </p:txBody>
      </p:sp>
      <p:sp>
        <p:nvSpPr>
          <p:cNvPr id="4" name="Datumsplatzhalter 3">
            <a:extLst>
              <a:ext uri="{FF2B5EF4-FFF2-40B4-BE49-F238E27FC236}">
                <a16:creationId xmlns:a16="http://schemas.microsoft.com/office/drawing/2014/main" id="{BD4A01E6-68F5-4F63-F90E-D534F9E3E7ED}"/>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9C2A4D7E-A7E1-B4F7-88D4-69405FC7DF99}"/>
              </a:ext>
            </a:extLst>
          </p:cNvPr>
          <p:cNvSpPr>
            <a:spLocks noGrp="1"/>
          </p:cNvSpPr>
          <p:nvPr>
            <p:ph type="sldNum" sz="quarter" idx="12"/>
          </p:nvPr>
        </p:nvSpPr>
        <p:spPr/>
        <p:txBody>
          <a:bodyPr/>
          <a:lstStyle/>
          <a:p>
            <a:fld id="{23A701DC-EF14-4B96-8CB3-3CDF492F23EA}" type="slidenum">
              <a:rPr lang="de-DE" smtClean="0"/>
              <a:pPr/>
              <a:t>13</a:t>
            </a:fld>
            <a:endParaRPr lang="de-DE" dirty="0"/>
          </a:p>
        </p:txBody>
      </p:sp>
    </p:spTree>
    <p:extLst>
      <p:ext uri="{BB962C8B-B14F-4D97-AF65-F5344CB8AC3E}">
        <p14:creationId xmlns:p14="http://schemas.microsoft.com/office/powerpoint/2010/main" val="2890358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AD2C5F-992F-8466-A487-DCA2381580FE}"/>
              </a:ext>
            </a:extLst>
          </p:cNvPr>
          <p:cNvSpPr>
            <a:spLocks noGrp="1"/>
          </p:cNvSpPr>
          <p:nvPr>
            <p:ph type="title"/>
          </p:nvPr>
        </p:nvSpPr>
        <p:spPr/>
        <p:txBody>
          <a:bodyPr>
            <a:noAutofit/>
          </a:bodyPr>
          <a:lstStyle/>
          <a:p>
            <a:r>
              <a:rPr lang="de-DE" sz="2400" dirty="0"/>
              <a:t>Schätzung der prämorbiden kognitiven Leistungsfähigkeit von Patienten</a:t>
            </a:r>
            <a:endParaRPr lang="de-DE" sz="2400" b="1" dirty="0">
              <a:effectLst/>
            </a:endParaRPr>
          </a:p>
        </p:txBody>
      </p:sp>
      <p:sp>
        <p:nvSpPr>
          <p:cNvPr id="3" name="Inhaltsplatzhalter 2">
            <a:extLst>
              <a:ext uri="{FF2B5EF4-FFF2-40B4-BE49-F238E27FC236}">
                <a16:creationId xmlns:a16="http://schemas.microsoft.com/office/drawing/2014/main" id="{F6362088-2B15-5247-DF90-11829BE3D310}"/>
              </a:ext>
            </a:extLst>
          </p:cNvPr>
          <p:cNvSpPr>
            <a:spLocks noGrp="1"/>
          </p:cNvSpPr>
          <p:nvPr>
            <p:ph idx="1"/>
          </p:nvPr>
        </p:nvSpPr>
        <p:spPr/>
        <p:txBody>
          <a:bodyPr/>
          <a:lstStyle/>
          <a:p>
            <a:pPr marL="0" indent="0">
              <a:buNone/>
            </a:pPr>
            <a:r>
              <a:rPr lang="de-DE" sz="1800" b="1" dirty="0">
                <a:effectLst/>
              </a:rPr>
              <a:t>b. Statistische Urteilsbildung durch biographische Daten</a:t>
            </a:r>
            <a:endParaRPr lang="de-DE" b="1" dirty="0"/>
          </a:p>
          <a:p>
            <a:pPr marL="0" indent="0" algn="l">
              <a:buNone/>
            </a:pPr>
            <a:r>
              <a:rPr lang="de-DE" dirty="0"/>
              <a:t>Jahn et al. (2013). </a:t>
            </a:r>
            <a:r>
              <a:rPr lang="de-DE" sz="1800" b="0" i="1" u="none" strike="noStrike" baseline="0" dirty="0"/>
              <a:t>Drei Sozialformeln zur Schätzung der (prämorbiden) Intelligenzquotienten nach Wechsler</a:t>
            </a:r>
            <a:endParaRPr lang="de-DE" sz="1800" b="1" u="none" strike="noStrike" baseline="0" dirty="0"/>
          </a:p>
          <a:p>
            <a:pPr marL="0" indent="0" algn="l">
              <a:buNone/>
            </a:pPr>
            <a:endParaRPr lang="de-DE" sz="1800" b="1" u="none" strike="noStrike" baseline="0" dirty="0"/>
          </a:p>
          <a:p>
            <a:pPr marL="0" indent="0" algn="l">
              <a:buNone/>
            </a:pPr>
            <a:r>
              <a:rPr lang="de-DE" sz="1800" b="1" u="none" strike="noStrike" baseline="0" dirty="0"/>
              <a:t>Methoden </a:t>
            </a:r>
            <a:r>
              <a:rPr lang="de-DE" b="1" dirty="0"/>
              <a:t>Teil 2</a:t>
            </a:r>
            <a:endParaRPr lang="de-DE" sz="1800" b="1" u="none" strike="noStrike" baseline="0" dirty="0"/>
          </a:p>
          <a:p>
            <a:pPr marL="0" indent="0" algn="l">
              <a:buNone/>
            </a:pPr>
            <a:r>
              <a:rPr lang="de-DE" dirty="0"/>
              <a:t>Berechnung eines Vorhersagemodells (durch multiple Regressionen), das mittels unterschiedlicher </a:t>
            </a:r>
            <a:r>
              <a:rPr lang="de-DE" sz="1800" u="none" strike="noStrike" baseline="0" dirty="0"/>
              <a:t>biographischer und soziodemographischer Variablen bestmöglich Handlungs-, Verbal- und Gesamt-IQ vorhersagt (</a:t>
            </a:r>
            <a:r>
              <a:rPr lang="de-DE" dirty="0"/>
              <a:t>Stichprobe </a:t>
            </a:r>
            <a:r>
              <a:rPr lang="de-DE" sz="1800" b="1" u="none" strike="noStrike" baseline="0" dirty="0"/>
              <a:t>n=490</a:t>
            </a:r>
            <a:r>
              <a:rPr lang="de-DE" sz="1800" u="none" strike="noStrike" baseline="0" dirty="0"/>
              <a:t>).</a:t>
            </a:r>
          </a:p>
          <a:p>
            <a:pPr marL="0" indent="0" algn="l">
              <a:buNone/>
            </a:pPr>
            <a:endParaRPr lang="de-DE" i="1" dirty="0"/>
          </a:p>
          <a:p>
            <a:pPr marL="0" indent="0" algn="l">
              <a:buNone/>
            </a:pPr>
            <a:r>
              <a:rPr lang="de-DE" dirty="0"/>
              <a:t>Zudem </a:t>
            </a:r>
            <a:r>
              <a:rPr lang="de-DE" b="1" dirty="0"/>
              <a:t>Kreuzvalidierung</a:t>
            </a:r>
            <a:r>
              <a:rPr lang="de-DE" dirty="0"/>
              <a:t> des Vorhersagemodells an den „restlichen“ </a:t>
            </a:r>
            <a:r>
              <a:rPr lang="de-DE" b="1" dirty="0"/>
              <a:t>n=122 </a:t>
            </a:r>
            <a:r>
              <a:rPr lang="de-DE" dirty="0"/>
              <a:t>Probanden, um zu überprüfen, ob Vorhersagekraft des Modells an einer neuen Stichprobe bestand hat.</a:t>
            </a:r>
          </a:p>
        </p:txBody>
      </p:sp>
      <p:sp>
        <p:nvSpPr>
          <p:cNvPr id="4" name="Datumsplatzhalter 3">
            <a:extLst>
              <a:ext uri="{FF2B5EF4-FFF2-40B4-BE49-F238E27FC236}">
                <a16:creationId xmlns:a16="http://schemas.microsoft.com/office/drawing/2014/main" id="{BD4A01E6-68F5-4F63-F90E-D534F9E3E7ED}"/>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9C2A4D7E-A7E1-B4F7-88D4-69405FC7DF99}"/>
              </a:ext>
            </a:extLst>
          </p:cNvPr>
          <p:cNvSpPr>
            <a:spLocks noGrp="1"/>
          </p:cNvSpPr>
          <p:nvPr>
            <p:ph type="sldNum" sz="quarter" idx="12"/>
          </p:nvPr>
        </p:nvSpPr>
        <p:spPr/>
        <p:txBody>
          <a:bodyPr/>
          <a:lstStyle/>
          <a:p>
            <a:fld id="{23A701DC-EF14-4B96-8CB3-3CDF492F23EA}" type="slidenum">
              <a:rPr lang="de-DE" smtClean="0"/>
              <a:pPr/>
              <a:t>14</a:t>
            </a:fld>
            <a:endParaRPr lang="de-DE" dirty="0"/>
          </a:p>
        </p:txBody>
      </p:sp>
    </p:spTree>
    <p:extLst>
      <p:ext uri="{BB962C8B-B14F-4D97-AF65-F5344CB8AC3E}">
        <p14:creationId xmlns:p14="http://schemas.microsoft.com/office/powerpoint/2010/main" val="1374047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AD2C5F-992F-8466-A487-DCA2381580FE}"/>
              </a:ext>
            </a:extLst>
          </p:cNvPr>
          <p:cNvSpPr>
            <a:spLocks noGrp="1"/>
          </p:cNvSpPr>
          <p:nvPr>
            <p:ph type="title"/>
          </p:nvPr>
        </p:nvSpPr>
        <p:spPr/>
        <p:txBody>
          <a:bodyPr>
            <a:noAutofit/>
          </a:bodyPr>
          <a:lstStyle/>
          <a:p>
            <a:r>
              <a:rPr lang="de-DE" sz="2400" dirty="0"/>
              <a:t>Schätzung der prämorbiden kognitiven Leistungsfähigkeit von Patienten</a:t>
            </a:r>
            <a:endParaRPr lang="de-DE" sz="2400" b="1" dirty="0">
              <a:effectLst/>
            </a:endParaRPr>
          </a:p>
        </p:txBody>
      </p:sp>
      <p:sp>
        <p:nvSpPr>
          <p:cNvPr id="3" name="Inhaltsplatzhalter 2">
            <a:extLst>
              <a:ext uri="{FF2B5EF4-FFF2-40B4-BE49-F238E27FC236}">
                <a16:creationId xmlns:a16="http://schemas.microsoft.com/office/drawing/2014/main" id="{F6362088-2B15-5247-DF90-11829BE3D310}"/>
              </a:ext>
            </a:extLst>
          </p:cNvPr>
          <p:cNvSpPr>
            <a:spLocks noGrp="1"/>
          </p:cNvSpPr>
          <p:nvPr>
            <p:ph idx="1"/>
          </p:nvPr>
        </p:nvSpPr>
        <p:spPr/>
        <p:txBody>
          <a:bodyPr>
            <a:normAutofit/>
          </a:bodyPr>
          <a:lstStyle/>
          <a:p>
            <a:pPr marL="0" indent="0">
              <a:buNone/>
            </a:pPr>
            <a:r>
              <a:rPr lang="de-DE" sz="1800" b="1" dirty="0">
                <a:effectLst/>
              </a:rPr>
              <a:t>b. Statistische Urteilsbildung durch biographische Daten</a:t>
            </a:r>
            <a:endParaRPr lang="de-DE" b="1" dirty="0"/>
          </a:p>
          <a:p>
            <a:pPr marL="0" indent="0" algn="l">
              <a:buNone/>
            </a:pPr>
            <a:r>
              <a:rPr lang="de-DE" dirty="0"/>
              <a:t>Jahn et al. (2013). </a:t>
            </a:r>
            <a:r>
              <a:rPr lang="de-DE" sz="1800" b="0" i="1" u="none" strike="noStrike" baseline="0" dirty="0"/>
              <a:t>Drei Sozialformeln zur Schätzung der (prämorbiden) Intelligenzquotienten nach Wechsler</a:t>
            </a:r>
            <a:endParaRPr lang="de-DE" sz="1800" b="1" u="none" strike="noStrike" baseline="0" dirty="0"/>
          </a:p>
          <a:p>
            <a:pPr marL="0" indent="0" algn="l">
              <a:buNone/>
            </a:pPr>
            <a:r>
              <a:rPr lang="de-DE" sz="1800" b="1" u="none" strike="noStrike" baseline="0" dirty="0"/>
              <a:t>Resultate Teil 1: Vorhersagekraft des Modells (n=490; </a:t>
            </a:r>
            <a:r>
              <a:rPr lang="de-DE" sz="1400" b="1" u="none" strike="noStrike" baseline="0" dirty="0"/>
              <a:t>Entwicklungsgruppe</a:t>
            </a:r>
            <a:r>
              <a:rPr lang="de-DE" sz="1800" b="1" u="none" strike="noStrike" baseline="0" dirty="0"/>
              <a:t>)</a:t>
            </a:r>
          </a:p>
          <a:p>
            <a:pPr marL="0" indent="0" algn="l">
              <a:buNone/>
            </a:pPr>
            <a:endParaRPr lang="de-DE" sz="1800" b="1" u="none" strike="noStrike" baseline="0" dirty="0"/>
          </a:p>
        </p:txBody>
      </p:sp>
      <p:sp>
        <p:nvSpPr>
          <p:cNvPr id="4" name="Datumsplatzhalter 3">
            <a:extLst>
              <a:ext uri="{FF2B5EF4-FFF2-40B4-BE49-F238E27FC236}">
                <a16:creationId xmlns:a16="http://schemas.microsoft.com/office/drawing/2014/main" id="{BD4A01E6-68F5-4F63-F90E-D534F9E3E7ED}"/>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9C2A4D7E-A7E1-B4F7-88D4-69405FC7DF99}"/>
              </a:ext>
            </a:extLst>
          </p:cNvPr>
          <p:cNvSpPr>
            <a:spLocks noGrp="1"/>
          </p:cNvSpPr>
          <p:nvPr>
            <p:ph type="sldNum" sz="quarter" idx="12"/>
          </p:nvPr>
        </p:nvSpPr>
        <p:spPr/>
        <p:txBody>
          <a:bodyPr/>
          <a:lstStyle/>
          <a:p>
            <a:fld id="{23A701DC-EF14-4B96-8CB3-3CDF492F23EA}" type="slidenum">
              <a:rPr lang="de-DE" smtClean="0"/>
              <a:pPr/>
              <a:t>15</a:t>
            </a:fld>
            <a:endParaRPr lang="de-DE" dirty="0"/>
          </a:p>
        </p:txBody>
      </p:sp>
      <p:pic>
        <p:nvPicPr>
          <p:cNvPr id="7" name="Grafik 6">
            <a:extLst>
              <a:ext uri="{FF2B5EF4-FFF2-40B4-BE49-F238E27FC236}">
                <a16:creationId xmlns:a16="http://schemas.microsoft.com/office/drawing/2014/main" id="{E64F9EB2-93B4-DADD-A705-0FB388C1DCBD}"/>
              </a:ext>
            </a:extLst>
          </p:cNvPr>
          <p:cNvPicPr>
            <a:picLocks noChangeAspect="1"/>
          </p:cNvPicPr>
          <p:nvPr/>
        </p:nvPicPr>
        <p:blipFill>
          <a:blip r:embed="rId2"/>
          <a:stretch>
            <a:fillRect/>
          </a:stretch>
        </p:blipFill>
        <p:spPr>
          <a:xfrm>
            <a:off x="729841" y="3429000"/>
            <a:ext cx="7886701" cy="2539371"/>
          </a:xfrm>
          <a:prstGeom prst="rect">
            <a:avLst/>
          </a:prstGeom>
        </p:spPr>
      </p:pic>
      <p:sp>
        <p:nvSpPr>
          <p:cNvPr id="8" name="Rechteck 7">
            <a:extLst>
              <a:ext uri="{FF2B5EF4-FFF2-40B4-BE49-F238E27FC236}">
                <a16:creationId xmlns:a16="http://schemas.microsoft.com/office/drawing/2014/main" id="{756D85AB-0A23-0EBE-4DBA-94A90D1D3590}"/>
              </a:ext>
            </a:extLst>
          </p:cNvPr>
          <p:cNvSpPr/>
          <p:nvPr/>
        </p:nvSpPr>
        <p:spPr>
          <a:xfrm>
            <a:off x="1595480" y="3254367"/>
            <a:ext cx="1283517" cy="349265"/>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ysClr val="windowText" lastClr="000000"/>
                </a:solidFill>
                <a:latin typeface="Arial" panose="020B0604020202020204" pitchFamily="34" charset="0"/>
                <a:cs typeface="Arial" panose="020B0604020202020204" pitchFamily="34" charset="0"/>
              </a:rPr>
              <a:t>Ausreichende Vorhersagegüte</a:t>
            </a:r>
          </a:p>
        </p:txBody>
      </p:sp>
      <p:sp>
        <p:nvSpPr>
          <p:cNvPr id="9" name="Rechteck 8">
            <a:extLst>
              <a:ext uri="{FF2B5EF4-FFF2-40B4-BE49-F238E27FC236}">
                <a16:creationId xmlns:a16="http://schemas.microsoft.com/office/drawing/2014/main" id="{3C4397C7-5347-1E3B-3ED0-4ACF3254A198}"/>
              </a:ext>
            </a:extLst>
          </p:cNvPr>
          <p:cNvSpPr/>
          <p:nvPr/>
        </p:nvSpPr>
        <p:spPr>
          <a:xfrm>
            <a:off x="6640671" y="3220408"/>
            <a:ext cx="1283517" cy="349265"/>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ysClr val="windowText" lastClr="000000"/>
                </a:solidFill>
                <a:latin typeface="Arial" panose="020B0604020202020204" pitchFamily="34" charset="0"/>
                <a:cs typeface="Arial" panose="020B0604020202020204" pitchFamily="34" charset="0"/>
              </a:rPr>
              <a:t>Ausreichende Vorhersagegüte</a:t>
            </a:r>
          </a:p>
        </p:txBody>
      </p:sp>
      <p:sp>
        <p:nvSpPr>
          <p:cNvPr id="10" name="Rechteck 9">
            <a:extLst>
              <a:ext uri="{FF2B5EF4-FFF2-40B4-BE49-F238E27FC236}">
                <a16:creationId xmlns:a16="http://schemas.microsoft.com/office/drawing/2014/main" id="{DDF0D5F1-AF32-70B6-1D11-E8FD361CA53E}"/>
              </a:ext>
            </a:extLst>
          </p:cNvPr>
          <p:cNvSpPr/>
          <p:nvPr/>
        </p:nvSpPr>
        <p:spPr>
          <a:xfrm>
            <a:off x="4301540" y="3254367"/>
            <a:ext cx="1283517" cy="349265"/>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ysClr val="windowText" lastClr="000000"/>
                </a:solidFill>
                <a:latin typeface="Arial" panose="020B0604020202020204" pitchFamily="34" charset="0"/>
                <a:cs typeface="Arial" panose="020B0604020202020204" pitchFamily="34" charset="0"/>
              </a:rPr>
              <a:t>Unzureichende Vorhersagegüte</a:t>
            </a:r>
          </a:p>
        </p:txBody>
      </p:sp>
      <p:sp>
        <p:nvSpPr>
          <p:cNvPr id="11" name="Rechteck 10">
            <a:extLst>
              <a:ext uri="{FF2B5EF4-FFF2-40B4-BE49-F238E27FC236}">
                <a16:creationId xmlns:a16="http://schemas.microsoft.com/office/drawing/2014/main" id="{499E2690-BF8A-C64D-B23F-4DB38FE64341}"/>
              </a:ext>
            </a:extLst>
          </p:cNvPr>
          <p:cNvSpPr/>
          <p:nvPr/>
        </p:nvSpPr>
        <p:spPr>
          <a:xfrm>
            <a:off x="1368977" y="5307921"/>
            <a:ext cx="453005" cy="251670"/>
          </a:xfrm>
          <a:prstGeom prst="rect">
            <a:avLst/>
          </a:prstGeom>
          <a:solidFill>
            <a:srgbClr val="8FAADC">
              <a:alpha val="2902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1D13F1A5-94BF-CBB2-B6B0-8973CBB3C562}"/>
              </a:ext>
            </a:extLst>
          </p:cNvPr>
          <p:cNvSpPr/>
          <p:nvPr/>
        </p:nvSpPr>
        <p:spPr>
          <a:xfrm>
            <a:off x="3848535" y="5324699"/>
            <a:ext cx="453005" cy="251670"/>
          </a:xfrm>
          <a:prstGeom prst="rect">
            <a:avLst/>
          </a:prstGeom>
          <a:solidFill>
            <a:srgbClr val="8FAADC">
              <a:alpha val="2902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D3123E17-C240-971C-3186-577DC0F9ADD5}"/>
              </a:ext>
            </a:extLst>
          </p:cNvPr>
          <p:cNvSpPr/>
          <p:nvPr/>
        </p:nvSpPr>
        <p:spPr>
          <a:xfrm>
            <a:off x="6347056" y="5324699"/>
            <a:ext cx="453005" cy="251670"/>
          </a:xfrm>
          <a:prstGeom prst="rect">
            <a:avLst/>
          </a:prstGeom>
          <a:solidFill>
            <a:srgbClr val="8FAADC">
              <a:alpha val="2902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234224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D5949220-51D1-89DF-BC71-1C63A316D6BB}"/>
              </a:ext>
            </a:extLst>
          </p:cNvPr>
          <p:cNvPicPr>
            <a:picLocks noChangeAspect="1"/>
          </p:cNvPicPr>
          <p:nvPr/>
        </p:nvPicPr>
        <p:blipFill rotWithShape="1">
          <a:blip r:embed="rId2"/>
          <a:srcRect t="2391"/>
          <a:stretch/>
        </p:blipFill>
        <p:spPr>
          <a:xfrm>
            <a:off x="628650" y="3620007"/>
            <a:ext cx="7886700" cy="2483108"/>
          </a:xfrm>
          <a:prstGeom prst="rect">
            <a:avLst/>
          </a:prstGeom>
        </p:spPr>
      </p:pic>
      <p:sp>
        <p:nvSpPr>
          <p:cNvPr id="2" name="Titel 1">
            <a:extLst>
              <a:ext uri="{FF2B5EF4-FFF2-40B4-BE49-F238E27FC236}">
                <a16:creationId xmlns:a16="http://schemas.microsoft.com/office/drawing/2014/main" id="{84AD2C5F-992F-8466-A487-DCA2381580FE}"/>
              </a:ext>
            </a:extLst>
          </p:cNvPr>
          <p:cNvSpPr>
            <a:spLocks noGrp="1"/>
          </p:cNvSpPr>
          <p:nvPr>
            <p:ph type="title"/>
          </p:nvPr>
        </p:nvSpPr>
        <p:spPr/>
        <p:txBody>
          <a:bodyPr>
            <a:noAutofit/>
          </a:bodyPr>
          <a:lstStyle/>
          <a:p>
            <a:r>
              <a:rPr lang="de-DE" sz="2400" dirty="0"/>
              <a:t>Schätzung der prämorbiden kognitiven Leistungsfähigkeit von Patienten</a:t>
            </a:r>
            <a:endParaRPr lang="de-DE" sz="2400" b="1" dirty="0">
              <a:effectLst/>
            </a:endParaRPr>
          </a:p>
        </p:txBody>
      </p:sp>
      <p:sp>
        <p:nvSpPr>
          <p:cNvPr id="3" name="Inhaltsplatzhalter 2">
            <a:extLst>
              <a:ext uri="{FF2B5EF4-FFF2-40B4-BE49-F238E27FC236}">
                <a16:creationId xmlns:a16="http://schemas.microsoft.com/office/drawing/2014/main" id="{F6362088-2B15-5247-DF90-11829BE3D310}"/>
              </a:ext>
            </a:extLst>
          </p:cNvPr>
          <p:cNvSpPr>
            <a:spLocks noGrp="1"/>
          </p:cNvSpPr>
          <p:nvPr>
            <p:ph idx="1"/>
          </p:nvPr>
        </p:nvSpPr>
        <p:spPr/>
        <p:txBody>
          <a:bodyPr/>
          <a:lstStyle/>
          <a:p>
            <a:pPr marL="0" indent="0">
              <a:buNone/>
            </a:pPr>
            <a:r>
              <a:rPr lang="de-DE" sz="1800" b="1" dirty="0">
                <a:effectLst/>
              </a:rPr>
              <a:t>b. Statistische Urteilsbildung durch biographische Daten</a:t>
            </a:r>
            <a:endParaRPr lang="de-DE" b="1" dirty="0"/>
          </a:p>
          <a:p>
            <a:pPr marL="0" indent="0" algn="l">
              <a:buNone/>
            </a:pPr>
            <a:r>
              <a:rPr lang="de-DE" dirty="0"/>
              <a:t>Jahn et al. (2013). </a:t>
            </a:r>
            <a:r>
              <a:rPr lang="de-DE" sz="1800" b="0" i="1" u="none" strike="noStrike" baseline="0" dirty="0"/>
              <a:t>Drei Sozialformeln zur Schätzung der (prämorbiden) Intelligenzquotienten nach Wechsler</a:t>
            </a:r>
            <a:endParaRPr lang="de-DE" sz="1800" b="1" u="none" strike="noStrike" baseline="0" dirty="0"/>
          </a:p>
          <a:p>
            <a:pPr marL="0" indent="0" algn="l">
              <a:buNone/>
            </a:pPr>
            <a:r>
              <a:rPr lang="de-DE" sz="1800" b="1" u="none" strike="noStrike" baseline="0" dirty="0"/>
              <a:t>Resultate Teil 2: Erfolgreiche Kreuzvalidierung des Vorhersagemodells (n=122</a:t>
            </a:r>
            <a:r>
              <a:rPr lang="de-DE" b="1" dirty="0"/>
              <a:t>;</a:t>
            </a:r>
            <a:r>
              <a:rPr lang="de-DE" sz="1800" b="1" u="none" strike="noStrike" baseline="0" dirty="0"/>
              <a:t> Testgruppe) </a:t>
            </a:r>
          </a:p>
          <a:p>
            <a:pPr marL="0" indent="0" algn="l">
              <a:buNone/>
            </a:pPr>
            <a:endParaRPr lang="de-DE" sz="1800" b="1" u="none" strike="noStrike" baseline="0" dirty="0"/>
          </a:p>
        </p:txBody>
      </p:sp>
      <p:sp>
        <p:nvSpPr>
          <p:cNvPr id="4" name="Datumsplatzhalter 3">
            <a:extLst>
              <a:ext uri="{FF2B5EF4-FFF2-40B4-BE49-F238E27FC236}">
                <a16:creationId xmlns:a16="http://schemas.microsoft.com/office/drawing/2014/main" id="{BD4A01E6-68F5-4F63-F90E-D534F9E3E7ED}"/>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9C2A4D7E-A7E1-B4F7-88D4-69405FC7DF99}"/>
              </a:ext>
            </a:extLst>
          </p:cNvPr>
          <p:cNvSpPr>
            <a:spLocks noGrp="1"/>
          </p:cNvSpPr>
          <p:nvPr>
            <p:ph type="sldNum" sz="quarter" idx="12"/>
          </p:nvPr>
        </p:nvSpPr>
        <p:spPr/>
        <p:txBody>
          <a:bodyPr/>
          <a:lstStyle/>
          <a:p>
            <a:fld id="{23A701DC-EF14-4B96-8CB3-3CDF492F23EA}" type="slidenum">
              <a:rPr lang="de-DE" smtClean="0"/>
              <a:pPr/>
              <a:t>16</a:t>
            </a:fld>
            <a:endParaRPr lang="de-DE" dirty="0"/>
          </a:p>
        </p:txBody>
      </p:sp>
      <p:sp>
        <p:nvSpPr>
          <p:cNvPr id="12" name="Rechteck 11">
            <a:extLst>
              <a:ext uri="{FF2B5EF4-FFF2-40B4-BE49-F238E27FC236}">
                <a16:creationId xmlns:a16="http://schemas.microsoft.com/office/drawing/2014/main" id="{E9318A3A-E396-015F-099C-55996702664C}"/>
              </a:ext>
            </a:extLst>
          </p:cNvPr>
          <p:cNvSpPr/>
          <p:nvPr/>
        </p:nvSpPr>
        <p:spPr>
          <a:xfrm>
            <a:off x="1166070" y="5402510"/>
            <a:ext cx="453005" cy="251670"/>
          </a:xfrm>
          <a:prstGeom prst="rect">
            <a:avLst/>
          </a:prstGeom>
          <a:solidFill>
            <a:srgbClr val="8FAADC">
              <a:alpha val="2902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9B85C80C-A8FA-5854-48C1-526EEBAD21F2}"/>
              </a:ext>
            </a:extLst>
          </p:cNvPr>
          <p:cNvSpPr/>
          <p:nvPr/>
        </p:nvSpPr>
        <p:spPr>
          <a:xfrm>
            <a:off x="3751278" y="5436066"/>
            <a:ext cx="453005" cy="251670"/>
          </a:xfrm>
          <a:prstGeom prst="rect">
            <a:avLst/>
          </a:prstGeom>
          <a:solidFill>
            <a:srgbClr val="8FAADC">
              <a:alpha val="2902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Rechteck 14">
            <a:extLst>
              <a:ext uri="{FF2B5EF4-FFF2-40B4-BE49-F238E27FC236}">
                <a16:creationId xmlns:a16="http://schemas.microsoft.com/office/drawing/2014/main" id="{E285071C-7A70-577A-8FCF-1E1437E5CE81}"/>
              </a:ext>
            </a:extLst>
          </p:cNvPr>
          <p:cNvSpPr/>
          <p:nvPr/>
        </p:nvSpPr>
        <p:spPr>
          <a:xfrm>
            <a:off x="6302930" y="5436066"/>
            <a:ext cx="453005" cy="251670"/>
          </a:xfrm>
          <a:prstGeom prst="rect">
            <a:avLst/>
          </a:prstGeom>
          <a:solidFill>
            <a:srgbClr val="8FAADC">
              <a:alpha val="2902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433628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527CF9-FA45-287E-2B9B-ABABCA7DBB33}"/>
              </a:ext>
            </a:extLst>
          </p:cNvPr>
          <p:cNvSpPr>
            <a:spLocks noGrp="1"/>
          </p:cNvSpPr>
          <p:nvPr>
            <p:ph type="title"/>
          </p:nvPr>
        </p:nvSpPr>
        <p:spPr/>
        <p:txBody>
          <a:bodyPr>
            <a:normAutofit fontScale="90000"/>
          </a:bodyPr>
          <a:lstStyle/>
          <a:p>
            <a:r>
              <a:rPr lang="de-DE" sz="3200" dirty="0"/>
              <a:t>Schätzung der prämorbiden kognitiven Leistungsfähigkeit von Patienten</a:t>
            </a:r>
            <a:endParaRPr lang="de-DE" dirty="0"/>
          </a:p>
        </p:txBody>
      </p:sp>
      <p:sp>
        <p:nvSpPr>
          <p:cNvPr id="4" name="Datumsplatzhalter 3">
            <a:extLst>
              <a:ext uri="{FF2B5EF4-FFF2-40B4-BE49-F238E27FC236}">
                <a16:creationId xmlns:a16="http://schemas.microsoft.com/office/drawing/2014/main" id="{B4B35265-F804-CBC8-AC42-16F57485320F}"/>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51A59B5A-0215-C93C-B3B0-A94DCDACCA54}"/>
              </a:ext>
            </a:extLst>
          </p:cNvPr>
          <p:cNvSpPr>
            <a:spLocks noGrp="1"/>
          </p:cNvSpPr>
          <p:nvPr>
            <p:ph type="sldNum" sz="quarter" idx="12"/>
          </p:nvPr>
        </p:nvSpPr>
        <p:spPr/>
        <p:txBody>
          <a:bodyPr/>
          <a:lstStyle/>
          <a:p>
            <a:fld id="{23A701DC-EF14-4B96-8CB3-3CDF492F23EA}" type="slidenum">
              <a:rPr lang="de-DE" smtClean="0"/>
              <a:pPr/>
              <a:t>17</a:t>
            </a:fld>
            <a:endParaRPr lang="de-DE" dirty="0"/>
          </a:p>
        </p:txBody>
      </p:sp>
      <p:pic>
        <p:nvPicPr>
          <p:cNvPr id="7" name="Grafik 6">
            <a:extLst>
              <a:ext uri="{FF2B5EF4-FFF2-40B4-BE49-F238E27FC236}">
                <a16:creationId xmlns:a16="http://schemas.microsoft.com/office/drawing/2014/main" id="{2D9C964F-9525-6481-D09D-13C0A5E5CCEA}"/>
              </a:ext>
            </a:extLst>
          </p:cNvPr>
          <p:cNvPicPr>
            <a:picLocks noChangeAspect="1"/>
          </p:cNvPicPr>
          <p:nvPr/>
        </p:nvPicPr>
        <p:blipFill>
          <a:blip r:embed="rId2"/>
          <a:stretch>
            <a:fillRect/>
          </a:stretch>
        </p:blipFill>
        <p:spPr>
          <a:xfrm>
            <a:off x="3232500" y="2271224"/>
            <a:ext cx="5648087" cy="3897009"/>
          </a:xfrm>
          <a:prstGeom prst="rect">
            <a:avLst/>
          </a:prstGeom>
        </p:spPr>
      </p:pic>
      <p:sp>
        <p:nvSpPr>
          <p:cNvPr id="9" name="Textfeld 8">
            <a:extLst>
              <a:ext uri="{FF2B5EF4-FFF2-40B4-BE49-F238E27FC236}">
                <a16:creationId xmlns:a16="http://schemas.microsoft.com/office/drawing/2014/main" id="{937387C8-2CC0-E609-91E3-C081E99B42A9}"/>
              </a:ext>
            </a:extLst>
          </p:cNvPr>
          <p:cNvSpPr txBox="1"/>
          <p:nvPr/>
        </p:nvSpPr>
        <p:spPr>
          <a:xfrm>
            <a:off x="0" y="2339707"/>
            <a:ext cx="3431097" cy="3693319"/>
          </a:xfrm>
          <a:prstGeom prst="rect">
            <a:avLst/>
          </a:prstGeom>
          <a:noFill/>
        </p:spPr>
        <p:txBody>
          <a:bodyPr wrap="square" rtlCol="0">
            <a:spAutoFit/>
          </a:bodyPr>
          <a:lstStyle/>
          <a:p>
            <a:pPr marL="285750" indent="-285750">
              <a:buFont typeface="Arial" panose="020B0604020202020204" pitchFamily="34" charset="0"/>
              <a:buChar char="•"/>
            </a:pPr>
            <a:r>
              <a:rPr lang="de-DE" b="1" dirty="0"/>
              <a:t>Durchschnitts-IQ</a:t>
            </a:r>
            <a:r>
              <a:rPr lang="de-DE" dirty="0"/>
              <a:t> der Gesamtgruppe im </a:t>
            </a:r>
            <a:r>
              <a:rPr lang="de-DE" b="1" dirty="0"/>
              <a:t>HAWIE-R</a:t>
            </a:r>
            <a:r>
              <a:rPr lang="de-DE" dirty="0"/>
              <a:t> bei </a:t>
            </a:r>
            <a:r>
              <a:rPr lang="de-DE" b="1" dirty="0"/>
              <a:t>111</a:t>
            </a:r>
          </a:p>
          <a:p>
            <a:pPr marL="285750" indent="-285750">
              <a:buFont typeface="Arial" panose="020B0604020202020204" pitchFamily="34" charset="0"/>
              <a:buChar char="•"/>
            </a:pPr>
            <a:endParaRPr lang="de-DE" b="1" dirty="0"/>
          </a:p>
          <a:p>
            <a:pPr marL="285750" indent="-285750">
              <a:buFont typeface="Arial" panose="020B0604020202020204" pitchFamily="34" charset="0"/>
              <a:buChar char="•"/>
            </a:pPr>
            <a:r>
              <a:rPr lang="de-DE" dirty="0"/>
              <a:t>Normstichproben für den HAWIE-R wurden in 1988 publiziert </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a:t>Sehr wahrscheinlich Flynn-Effekt (Generationenübergreif-</a:t>
            </a:r>
            <a:r>
              <a:rPr lang="de-DE" dirty="0" err="1"/>
              <a:t>ender</a:t>
            </a:r>
            <a:r>
              <a:rPr lang="de-DE" dirty="0"/>
              <a:t> Anstieg des IQ)</a:t>
            </a:r>
          </a:p>
          <a:p>
            <a:pPr marL="285750" indent="-285750">
              <a:buFont typeface="Arial" panose="020B0604020202020204" pitchFamily="34" charset="0"/>
              <a:buChar char="•"/>
            </a:pPr>
            <a:endParaRPr lang="de-DE" b="1" dirty="0"/>
          </a:p>
          <a:p>
            <a:pPr marL="285750" indent="-285750">
              <a:buFont typeface="Arial" panose="020B0604020202020204" pitchFamily="34" charset="0"/>
              <a:buChar char="•"/>
            </a:pPr>
            <a:endParaRPr lang="de-DE" b="1" dirty="0"/>
          </a:p>
        </p:txBody>
      </p:sp>
      <p:sp>
        <p:nvSpPr>
          <p:cNvPr id="10" name="Textfeld 9">
            <a:extLst>
              <a:ext uri="{FF2B5EF4-FFF2-40B4-BE49-F238E27FC236}">
                <a16:creationId xmlns:a16="http://schemas.microsoft.com/office/drawing/2014/main" id="{F4DCAAD2-4692-1B89-DCA5-5F32EC131A51}"/>
              </a:ext>
            </a:extLst>
          </p:cNvPr>
          <p:cNvSpPr txBox="1"/>
          <p:nvPr/>
        </p:nvSpPr>
        <p:spPr>
          <a:xfrm>
            <a:off x="0" y="5892582"/>
            <a:ext cx="2558944" cy="646331"/>
          </a:xfrm>
          <a:prstGeom prst="rect">
            <a:avLst/>
          </a:prstGeom>
          <a:noFill/>
        </p:spPr>
        <p:txBody>
          <a:bodyPr wrap="square" rtlCol="0">
            <a:spAutoFit/>
          </a:bodyPr>
          <a:lstStyle/>
          <a:p>
            <a:r>
              <a:rPr lang="de-DE" b="1" dirty="0"/>
              <a:t>Jahn et al. (2013)</a:t>
            </a:r>
          </a:p>
          <a:p>
            <a:pPr marL="285750" indent="-285750">
              <a:buFont typeface="Arial" panose="020B0604020202020204" pitchFamily="34" charset="0"/>
              <a:buChar char="•"/>
            </a:pPr>
            <a:endParaRPr lang="de-DE" b="1" dirty="0"/>
          </a:p>
        </p:txBody>
      </p:sp>
    </p:spTree>
    <p:extLst>
      <p:ext uri="{BB962C8B-B14F-4D97-AF65-F5344CB8AC3E}">
        <p14:creationId xmlns:p14="http://schemas.microsoft.com/office/powerpoint/2010/main" val="554002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4BD02E-48D7-374C-8C89-453DC1CE9008}"/>
              </a:ext>
            </a:extLst>
          </p:cNvPr>
          <p:cNvSpPr>
            <a:spLocks noGrp="1"/>
          </p:cNvSpPr>
          <p:nvPr>
            <p:ph type="title"/>
          </p:nvPr>
        </p:nvSpPr>
        <p:spPr/>
        <p:txBody>
          <a:bodyPr>
            <a:normAutofit fontScale="90000"/>
          </a:bodyPr>
          <a:lstStyle/>
          <a:p>
            <a:r>
              <a:rPr lang="de-DE" dirty="0"/>
              <a:t>Übung: Bestimmung der prämorbiden Intelligenz mittels der Sozialformel von Jahn et al. (2013)</a:t>
            </a:r>
          </a:p>
        </p:txBody>
      </p:sp>
    </p:spTree>
    <p:extLst>
      <p:ext uri="{BB962C8B-B14F-4D97-AF65-F5344CB8AC3E}">
        <p14:creationId xmlns:p14="http://schemas.microsoft.com/office/powerpoint/2010/main" val="832680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DCF6A98A-4EAF-08B0-2E8D-147EC6E6068B}"/>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1E236475-7C3A-6191-8D54-E0837C8424F3}"/>
              </a:ext>
            </a:extLst>
          </p:cNvPr>
          <p:cNvSpPr>
            <a:spLocks noGrp="1"/>
          </p:cNvSpPr>
          <p:nvPr>
            <p:ph type="sldNum" sz="quarter" idx="12"/>
          </p:nvPr>
        </p:nvSpPr>
        <p:spPr/>
        <p:txBody>
          <a:bodyPr/>
          <a:lstStyle/>
          <a:p>
            <a:fld id="{23A701DC-EF14-4B96-8CB3-3CDF492F23EA}" type="slidenum">
              <a:rPr lang="de-DE" smtClean="0"/>
              <a:pPr/>
              <a:t>19</a:t>
            </a:fld>
            <a:endParaRPr lang="de-DE" dirty="0"/>
          </a:p>
        </p:txBody>
      </p:sp>
      <p:pic>
        <p:nvPicPr>
          <p:cNvPr id="7" name="Grafik 6">
            <a:extLst>
              <a:ext uri="{FF2B5EF4-FFF2-40B4-BE49-F238E27FC236}">
                <a16:creationId xmlns:a16="http://schemas.microsoft.com/office/drawing/2014/main" id="{11EA2CC3-A6B5-E7F9-8C92-850F8192B856}"/>
              </a:ext>
            </a:extLst>
          </p:cNvPr>
          <p:cNvPicPr>
            <a:picLocks noChangeAspect="1"/>
          </p:cNvPicPr>
          <p:nvPr/>
        </p:nvPicPr>
        <p:blipFill>
          <a:blip r:embed="rId2"/>
          <a:stretch>
            <a:fillRect/>
          </a:stretch>
        </p:blipFill>
        <p:spPr>
          <a:xfrm>
            <a:off x="2475539" y="997203"/>
            <a:ext cx="4192922" cy="5243042"/>
          </a:xfrm>
          <a:prstGeom prst="rect">
            <a:avLst/>
          </a:prstGeom>
        </p:spPr>
      </p:pic>
      <p:sp>
        <p:nvSpPr>
          <p:cNvPr id="8" name="Geschweifte Klammer links 7">
            <a:extLst>
              <a:ext uri="{FF2B5EF4-FFF2-40B4-BE49-F238E27FC236}">
                <a16:creationId xmlns:a16="http://schemas.microsoft.com/office/drawing/2014/main" id="{91277ADC-72DA-B5B2-0E05-FDD6A4E19302}"/>
              </a:ext>
            </a:extLst>
          </p:cNvPr>
          <p:cNvSpPr/>
          <p:nvPr/>
        </p:nvSpPr>
        <p:spPr>
          <a:xfrm>
            <a:off x="2160952" y="1954634"/>
            <a:ext cx="629174" cy="3816991"/>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de-DE"/>
          </a:p>
        </p:txBody>
      </p:sp>
      <p:sp>
        <p:nvSpPr>
          <p:cNvPr id="9" name="Textfeld 8">
            <a:extLst>
              <a:ext uri="{FF2B5EF4-FFF2-40B4-BE49-F238E27FC236}">
                <a16:creationId xmlns:a16="http://schemas.microsoft.com/office/drawing/2014/main" id="{213BDFCC-CFC6-06B4-BBEB-6227F2F28932}"/>
              </a:ext>
            </a:extLst>
          </p:cNvPr>
          <p:cNvSpPr txBox="1"/>
          <p:nvPr/>
        </p:nvSpPr>
        <p:spPr>
          <a:xfrm>
            <a:off x="103552" y="3493797"/>
            <a:ext cx="2057400" cy="738664"/>
          </a:xfrm>
          <a:prstGeom prst="rect">
            <a:avLst/>
          </a:prstGeom>
          <a:noFill/>
        </p:spPr>
        <p:txBody>
          <a:bodyPr wrap="square" rtlCol="0">
            <a:spAutoFit/>
          </a:bodyPr>
          <a:lstStyle/>
          <a:p>
            <a:pPr algn="ctr"/>
            <a:r>
              <a:rPr lang="de-DE" sz="1400" dirty="0">
                <a:latin typeface="Arial" panose="020B0604020202020204" pitchFamily="34" charset="0"/>
                <a:cs typeface="Arial" panose="020B0604020202020204" pitchFamily="34" charset="0"/>
              </a:rPr>
              <a:t>Soziodemographische und biographische Daten</a:t>
            </a:r>
          </a:p>
        </p:txBody>
      </p:sp>
      <p:sp>
        <p:nvSpPr>
          <p:cNvPr id="10" name="Textfeld 9">
            <a:extLst>
              <a:ext uri="{FF2B5EF4-FFF2-40B4-BE49-F238E27FC236}">
                <a16:creationId xmlns:a16="http://schemas.microsoft.com/office/drawing/2014/main" id="{DAF43788-4612-7742-A74F-B30B91A3DF50}"/>
              </a:ext>
            </a:extLst>
          </p:cNvPr>
          <p:cNvSpPr txBox="1"/>
          <p:nvPr/>
        </p:nvSpPr>
        <p:spPr>
          <a:xfrm>
            <a:off x="6299083" y="1004208"/>
            <a:ext cx="2216267" cy="523220"/>
          </a:xfrm>
          <a:prstGeom prst="rect">
            <a:avLst/>
          </a:prstGeom>
          <a:noFill/>
        </p:spPr>
        <p:txBody>
          <a:bodyPr wrap="square" rtlCol="0">
            <a:spAutoFit/>
          </a:bodyPr>
          <a:lstStyle/>
          <a:p>
            <a:pPr algn="ctr"/>
            <a:r>
              <a:rPr lang="de-DE" sz="1400" dirty="0">
                <a:latin typeface="Arial" panose="020B0604020202020204" pitchFamily="34" charset="0"/>
                <a:cs typeface="Arial" panose="020B0604020202020204" pitchFamily="34" charset="0"/>
              </a:rPr>
              <a:t>Linke Zeile für Schätzung des Verbal-IQ</a:t>
            </a:r>
          </a:p>
        </p:txBody>
      </p:sp>
      <p:sp>
        <p:nvSpPr>
          <p:cNvPr id="11" name="Textfeld 10">
            <a:extLst>
              <a:ext uri="{FF2B5EF4-FFF2-40B4-BE49-F238E27FC236}">
                <a16:creationId xmlns:a16="http://schemas.microsoft.com/office/drawing/2014/main" id="{F929166A-FA40-22A7-91CE-18AE036C240D}"/>
              </a:ext>
            </a:extLst>
          </p:cNvPr>
          <p:cNvSpPr txBox="1"/>
          <p:nvPr/>
        </p:nvSpPr>
        <p:spPr>
          <a:xfrm>
            <a:off x="6810287" y="1683233"/>
            <a:ext cx="2216267" cy="738664"/>
          </a:xfrm>
          <a:prstGeom prst="rect">
            <a:avLst/>
          </a:prstGeom>
          <a:noFill/>
        </p:spPr>
        <p:txBody>
          <a:bodyPr wrap="square" rtlCol="0">
            <a:spAutoFit/>
          </a:bodyPr>
          <a:lstStyle/>
          <a:p>
            <a:pPr algn="ctr"/>
            <a:r>
              <a:rPr lang="de-DE" sz="1400" dirty="0">
                <a:latin typeface="Arial" panose="020B0604020202020204" pitchFamily="34" charset="0"/>
                <a:cs typeface="Arial" panose="020B0604020202020204" pitchFamily="34" charset="0"/>
              </a:rPr>
              <a:t>Rechte Zeile für Schätzung des Gesamt-IQ</a:t>
            </a:r>
          </a:p>
        </p:txBody>
      </p:sp>
      <p:sp>
        <p:nvSpPr>
          <p:cNvPr id="12" name="Textfeld 11">
            <a:extLst>
              <a:ext uri="{FF2B5EF4-FFF2-40B4-BE49-F238E27FC236}">
                <a16:creationId xmlns:a16="http://schemas.microsoft.com/office/drawing/2014/main" id="{F5AEF183-AD52-D002-BB4C-33965A73BF19}"/>
              </a:ext>
            </a:extLst>
          </p:cNvPr>
          <p:cNvSpPr txBox="1"/>
          <p:nvPr/>
        </p:nvSpPr>
        <p:spPr>
          <a:xfrm>
            <a:off x="6583260" y="2995983"/>
            <a:ext cx="2443294" cy="2893100"/>
          </a:xfrm>
          <a:prstGeom prst="rect">
            <a:avLst/>
          </a:prstGeom>
          <a:noFill/>
        </p:spPr>
        <p:txBody>
          <a:bodyPr wrap="square" rtlCol="0">
            <a:spAutoFit/>
          </a:bodyPr>
          <a:lstStyle/>
          <a:p>
            <a:pPr marL="285750"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Gesamtwert der Sozialformel in HAWIE-R-äquivalenten Werten </a:t>
            </a:r>
          </a:p>
          <a:p>
            <a:pPr marL="285750" indent="-285750">
              <a:buFont typeface="Arial" panose="020B0604020202020204" pitchFamily="34" charset="0"/>
              <a:buChar char="•"/>
            </a:pPr>
            <a:endParaRPr lang="de-DE"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Muss umgerechnet werden in WIE-äquivalente Werte (ansonsten Überschätzung des IQs) mit Hilfe von:</a:t>
            </a:r>
          </a:p>
          <a:p>
            <a:pPr marL="285750" indent="-285750">
              <a:buFont typeface="Arial" panose="020B0604020202020204" pitchFamily="34" charset="0"/>
              <a:buChar char="•"/>
            </a:pPr>
            <a:endParaRPr lang="de-DE"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Erzberger &amp; Engel (2010) </a:t>
            </a:r>
            <a:r>
              <a:rPr lang="de-DE" sz="1000" dirty="0">
                <a:latin typeface="Arial" panose="020B0604020202020204" pitchFamily="34" charset="0"/>
                <a:cs typeface="Arial" panose="020B0604020202020204" pitchFamily="34" charset="0"/>
              </a:rPr>
              <a:t>im Ilias hochgeladen</a:t>
            </a:r>
          </a:p>
        </p:txBody>
      </p:sp>
      <p:cxnSp>
        <p:nvCxnSpPr>
          <p:cNvPr id="13" name="Gerade Verbindung mit Pfeil 12">
            <a:extLst>
              <a:ext uri="{FF2B5EF4-FFF2-40B4-BE49-F238E27FC236}">
                <a16:creationId xmlns:a16="http://schemas.microsoft.com/office/drawing/2014/main" id="{40760DBA-1741-90C1-C0E6-E89B3221A9A0}"/>
              </a:ext>
            </a:extLst>
          </p:cNvPr>
          <p:cNvCxnSpPr>
            <a:cxnSpLocks/>
          </p:cNvCxnSpPr>
          <p:nvPr/>
        </p:nvCxnSpPr>
        <p:spPr>
          <a:xfrm flipV="1">
            <a:off x="5855516" y="1325461"/>
            <a:ext cx="812945" cy="520117"/>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7" name="Gerade Verbindung mit Pfeil 16">
            <a:extLst>
              <a:ext uri="{FF2B5EF4-FFF2-40B4-BE49-F238E27FC236}">
                <a16:creationId xmlns:a16="http://schemas.microsoft.com/office/drawing/2014/main" id="{1D13B822-7AB9-BDCB-3E03-48806844897A}"/>
              </a:ext>
            </a:extLst>
          </p:cNvPr>
          <p:cNvCxnSpPr>
            <a:cxnSpLocks/>
          </p:cNvCxnSpPr>
          <p:nvPr/>
        </p:nvCxnSpPr>
        <p:spPr>
          <a:xfrm>
            <a:off x="6299083" y="1845578"/>
            <a:ext cx="9406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52217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6B4AB6-7616-E7E8-F59D-BF787C000FA9}"/>
              </a:ext>
            </a:extLst>
          </p:cNvPr>
          <p:cNvSpPr>
            <a:spLocks noGrp="1"/>
          </p:cNvSpPr>
          <p:nvPr>
            <p:ph type="title"/>
          </p:nvPr>
        </p:nvSpPr>
        <p:spPr/>
        <p:txBody>
          <a:bodyPr/>
          <a:lstStyle/>
          <a:p>
            <a:r>
              <a:rPr lang="de-DE" dirty="0"/>
              <a:t>Fallbeispiel</a:t>
            </a:r>
          </a:p>
        </p:txBody>
      </p:sp>
      <p:sp>
        <p:nvSpPr>
          <p:cNvPr id="3" name="Inhaltsplatzhalter 2">
            <a:extLst>
              <a:ext uri="{FF2B5EF4-FFF2-40B4-BE49-F238E27FC236}">
                <a16:creationId xmlns:a16="http://schemas.microsoft.com/office/drawing/2014/main" id="{2339E321-B691-23C1-F7C9-AEC5A153DF1D}"/>
              </a:ext>
            </a:extLst>
          </p:cNvPr>
          <p:cNvSpPr>
            <a:spLocks noGrp="1"/>
          </p:cNvSpPr>
          <p:nvPr>
            <p:ph idx="1"/>
          </p:nvPr>
        </p:nvSpPr>
        <p:spPr/>
        <p:txBody>
          <a:bodyPr>
            <a:normAutofit/>
          </a:bodyPr>
          <a:lstStyle/>
          <a:p>
            <a:pPr marL="0" indent="0" algn="just">
              <a:buNone/>
            </a:pPr>
            <a:r>
              <a:rPr lang="de-DE" b="0" i="0" u="none" strike="noStrike" baseline="0" dirty="0"/>
              <a:t>Ein 46-jähriger, als Einzelkind in Scheyern bei Pfaffenhofen an der Ilm aufgewachsener Spediteur absolvierte nach der mittleren Reife (Durchschnittsnote des Abschlusszeugnisses: 2.7; Mathematiknoten „meist so um 3 bis 4“) zunächst eine Ausbildung zum KFZ-Mechaniker (auf Nachfrage: ohne Meisterbrief), bevor er vor 22 Jahren nach München übersiedelte und dort eigenhändig seinen Familienbetrieb aufbaute. Als Kinderhielt er zwei Jahre Blockflötenunterricht, um sich nach einem weiteren Jahr Klavierunterricht lieber ganz dem Fußballspiel zu widmen. Bis zum Beginn einer schweren Depression vor zwei Jahren nutzte er das Internet nur beruflich, verfolgte in seiner wenigen Freizeit jedoch mit Interesse das politische und wirtschaftliche Geschehen über TV und Tageszeitung (auf Nachfrage: Abonnement der Süddeutschen Zeitung). Bücher wurden „eher nicht“ gelesen, allenfalls Biographien (auf weitere Nachfrage: „Über Adenauer und Churchill und so. Aber jetzt kann ich mich auf so etwas nicht mehr konzentrieren, hab auch nicht mehr das Interesse“).</a:t>
            </a:r>
            <a:endParaRPr lang="de-DE" dirty="0"/>
          </a:p>
        </p:txBody>
      </p:sp>
      <p:sp>
        <p:nvSpPr>
          <p:cNvPr id="4" name="Datumsplatzhalter 3">
            <a:extLst>
              <a:ext uri="{FF2B5EF4-FFF2-40B4-BE49-F238E27FC236}">
                <a16:creationId xmlns:a16="http://schemas.microsoft.com/office/drawing/2014/main" id="{38915E00-1712-BDD8-0D45-25A969CE4C77}"/>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CAC5657A-F2EE-9939-80DF-C3D639E797FC}"/>
              </a:ext>
            </a:extLst>
          </p:cNvPr>
          <p:cNvSpPr>
            <a:spLocks noGrp="1"/>
          </p:cNvSpPr>
          <p:nvPr>
            <p:ph type="sldNum" sz="quarter" idx="12"/>
          </p:nvPr>
        </p:nvSpPr>
        <p:spPr/>
        <p:txBody>
          <a:bodyPr/>
          <a:lstStyle/>
          <a:p>
            <a:fld id="{23A701DC-EF14-4B96-8CB3-3CDF492F23EA}" type="slidenum">
              <a:rPr lang="de-DE" smtClean="0"/>
              <a:pPr/>
              <a:t>20</a:t>
            </a:fld>
            <a:endParaRPr lang="de-DE" dirty="0"/>
          </a:p>
        </p:txBody>
      </p:sp>
      <p:sp>
        <p:nvSpPr>
          <p:cNvPr id="6" name="Textfeld 5">
            <a:extLst>
              <a:ext uri="{FF2B5EF4-FFF2-40B4-BE49-F238E27FC236}">
                <a16:creationId xmlns:a16="http://schemas.microsoft.com/office/drawing/2014/main" id="{A6D3050C-162E-757F-1C42-5C802962A3D4}"/>
              </a:ext>
            </a:extLst>
          </p:cNvPr>
          <p:cNvSpPr txBox="1"/>
          <p:nvPr/>
        </p:nvSpPr>
        <p:spPr>
          <a:xfrm>
            <a:off x="7584172" y="5985601"/>
            <a:ext cx="1862356"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Jahn et al. (2013)</a:t>
            </a:r>
          </a:p>
        </p:txBody>
      </p:sp>
    </p:spTree>
    <p:extLst>
      <p:ext uri="{BB962C8B-B14F-4D97-AF65-F5344CB8AC3E}">
        <p14:creationId xmlns:p14="http://schemas.microsoft.com/office/powerpoint/2010/main" val="1080425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52D72D-12CA-32CB-67A0-8602D8A34EEF}"/>
              </a:ext>
            </a:extLst>
          </p:cNvPr>
          <p:cNvSpPr>
            <a:spLocks noGrp="1"/>
          </p:cNvSpPr>
          <p:nvPr>
            <p:ph type="title"/>
          </p:nvPr>
        </p:nvSpPr>
        <p:spPr/>
        <p:txBody>
          <a:bodyPr/>
          <a:lstStyle/>
          <a:p>
            <a:r>
              <a:rPr lang="de-DE" dirty="0"/>
              <a:t>Lösung Fallbeispiel</a:t>
            </a:r>
          </a:p>
        </p:txBody>
      </p:sp>
      <p:sp>
        <p:nvSpPr>
          <p:cNvPr id="3" name="Inhaltsplatzhalter 2">
            <a:extLst>
              <a:ext uri="{FF2B5EF4-FFF2-40B4-BE49-F238E27FC236}">
                <a16:creationId xmlns:a16="http://schemas.microsoft.com/office/drawing/2014/main" id="{B6FF3612-B5FC-EF35-A674-88857381D656}"/>
              </a:ext>
            </a:extLst>
          </p:cNvPr>
          <p:cNvSpPr>
            <a:spLocks noGrp="1"/>
          </p:cNvSpPr>
          <p:nvPr>
            <p:ph idx="1"/>
          </p:nvPr>
        </p:nvSpPr>
        <p:spPr/>
        <p:txBody>
          <a:bodyPr>
            <a:normAutofit lnSpcReduction="10000"/>
          </a:bodyPr>
          <a:lstStyle/>
          <a:p>
            <a:pPr marL="0" indent="0">
              <a:buNone/>
            </a:pPr>
            <a:r>
              <a:rPr lang="de-DE" sz="1800" b="1" i="0" u="none" strike="noStrike" baseline="0" dirty="0"/>
              <a:t>Gesamt-IQ (HAWIE-R) </a:t>
            </a:r>
            <a:r>
              <a:rPr lang="de-DE" sz="1800" b="0" i="0" u="none" strike="noStrike" baseline="0" dirty="0"/>
              <a:t>= </a:t>
            </a:r>
            <a:r>
              <a:rPr lang="de-DE" sz="1800" i="0" u="sng" strike="noStrike" baseline="0" dirty="0"/>
              <a:t>112 </a:t>
            </a:r>
          </a:p>
          <a:p>
            <a:pPr marL="0" indent="0">
              <a:buNone/>
            </a:pPr>
            <a:r>
              <a:rPr lang="de-DE" sz="1800" b="1" i="0" u="none" strike="noStrike" baseline="0" dirty="0"/>
              <a:t>Gesamt-IQ (WIE) </a:t>
            </a:r>
            <a:r>
              <a:rPr lang="de-DE" sz="1800" b="0" i="0" u="none" strike="noStrike" baseline="0" dirty="0"/>
              <a:t>= </a:t>
            </a:r>
            <a:r>
              <a:rPr lang="de-DE" sz="1800" i="0" u="sng" strike="noStrike" baseline="0" dirty="0"/>
              <a:t>101</a:t>
            </a:r>
          </a:p>
          <a:p>
            <a:pPr marL="0" indent="0" algn="l">
              <a:buNone/>
            </a:pPr>
            <a:r>
              <a:rPr lang="de-DE" sz="1800" b="0" i="0" u="none" strike="noStrike" baseline="0" dirty="0"/>
              <a:t>81.78 + 2.174 (</a:t>
            </a:r>
            <a:r>
              <a:rPr lang="de-DE" sz="1800" b="1" i="0" u="none" strike="noStrike" baseline="0" dirty="0"/>
              <a:t>Geschlecht</a:t>
            </a:r>
            <a:r>
              <a:rPr lang="de-DE" sz="1800" b="0" i="0" u="none" strike="noStrike" baseline="0" dirty="0"/>
              <a:t>) + 3.187 (</a:t>
            </a:r>
            <a:r>
              <a:rPr lang="de-DE" sz="1800" b="1" i="0" u="none" strike="noStrike" baseline="0" dirty="0"/>
              <a:t>Wohnort</a:t>
            </a:r>
            <a:r>
              <a:rPr lang="de-DE" sz="1800" b="0" i="0" u="none" strike="noStrike" baseline="0" dirty="0"/>
              <a:t>) + 0 </a:t>
            </a:r>
            <a:r>
              <a:rPr lang="de-DE" sz="1800" b="1" i="0" u="none" strike="noStrike" baseline="0" dirty="0"/>
              <a:t>(Internetnutzung</a:t>
            </a:r>
            <a:r>
              <a:rPr lang="de-DE" sz="1800" b="0" i="0" u="none" strike="noStrike" baseline="0" dirty="0"/>
              <a:t>)+6.903 (</a:t>
            </a:r>
            <a:r>
              <a:rPr lang="de-DE" sz="1800" b="1" i="0" u="none" strike="noStrike" baseline="0" dirty="0"/>
              <a:t>Schulabschluss</a:t>
            </a:r>
            <a:r>
              <a:rPr lang="de-DE" sz="1800" b="0" i="0" u="none" strike="noStrike" baseline="0" dirty="0"/>
              <a:t>)+0 (</a:t>
            </a:r>
            <a:r>
              <a:rPr lang="de-DE" sz="1800" b="1" i="0" u="none" strike="noStrike" baseline="0" dirty="0"/>
              <a:t>Mathematiknote</a:t>
            </a:r>
            <a:r>
              <a:rPr lang="de-DE" sz="1800" b="0" i="0" u="none" strike="noStrike" baseline="0" dirty="0"/>
              <a:t>)+0 (</a:t>
            </a:r>
            <a:r>
              <a:rPr lang="de-DE" sz="1800" b="1" i="0" u="none" strike="noStrike" baseline="0" dirty="0"/>
              <a:t>Musizieren</a:t>
            </a:r>
            <a:r>
              <a:rPr lang="de-DE" sz="1800" b="0" i="0" u="none" strike="noStrike" baseline="0" dirty="0"/>
              <a:t>)+6.342 (</a:t>
            </a:r>
            <a:r>
              <a:rPr lang="de-DE" sz="1800" b="1" i="0" u="none" strike="noStrike" baseline="0" dirty="0"/>
              <a:t>Berufsstellung</a:t>
            </a:r>
            <a:r>
              <a:rPr lang="de-DE" sz="1800" b="0" i="0" u="none" strike="noStrike" baseline="0" dirty="0"/>
              <a:t>)+3.196 (</a:t>
            </a:r>
            <a:r>
              <a:rPr lang="de-DE" sz="1800" b="1" i="0" u="none" strike="noStrike" baseline="0" dirty="0"/>
              <a:t>Zeitungslektüre</a:t>
            </a:r>
            <a:r>
              <a:rPr lang="de-DE" sz="1800" b="0" i="0" u="none" strike="noStrike" baseline="0" dirty="0"/>
              <a:t>)+8.801 (Buchlektüre)</a:t>
            </a:r>
          </a:p>
          <a:p>
            <a:pPr marL="0" indent="0" algn="l">
              <a:buNone/>
            </a:pPr>
            <a:endParaRPr lang="de-DE" sz="1800" b="0" i="0" u="none" strike="noStrike" baseline="0" dirty="0"/>
          </a:p>
          <a:p>
            <a:pPr marL="0" indent="0" algn="l">
              <a:buNone/>
            </a:pPr>
            <a:endParaRPr lang="de-DE" sz="1800" b="0" i="0" u="none" strike="noStrike" baseline="0" dirty="0"/>
          </a:p>
          <a:p>
            <a:pPr marL="0" indent="0" algn="l">
              <a:buNone/>
            </a:pPr>
            <a:r>
              <a:rPr lang="de-DE" sz="1800" b="1" i="0" u="none" strike="noStrike" baseline="0" dirty="0"/>
              <a:t>Verbal-IQ (HAWIE-R) </a:t>
            </a:r>
            <a:r>
              <a:rPr lang="de-DE" sz="1800" b="0" i="0" u="none" strike="noStrike" baseline="0" dirty="0"/>
              <a:t>= </a:t>
            </a:r>
            <a:r>
              <a:rPr lang="de-DE" sz="1800" b="0" i="0" u="sng" strike="noStrike" baseline="0" dirty="0"/>
              <a:t>116</a:t>
            </a:r>
            <a:r>
              <a:rPr lang="de-DE" sz="1800" b="0" i="0" u="none" strike="noStrike" baseline="0" dirty="0"/>
              <a:t> </a:t>
            </a:r>
          </a:p>
          <a:p>
            <a:pPr marL="0" indent="0">
              <a:buNone/>
            </a:pPr>
            <a:r>
              <a:rPr lang="de-DE" sz="1800" b="1" i="0" u="none" strike="noStrike" baseline="0" dirty="0"/>
              <a:t>Verbal-IQ (WIE) </a:t>
            </a:r>
            <a:r>
              <a:rPr lang="de-DE" sz="1800" b="0" i="0" u="none" strike="noStrike" baseline="0" dirty="0"/>
              <a:t>= </a:t>
            </a:r>
            <a:r>
              <a:rPr lang="de-DE" sz="1800" i="0" u="sng" strike="noStrike" baseline="0" dirty="0"/>
              <a:t>108</a:t>
            </a:r>
            <a:endParaRPr lang="de-DE" sz="1800" b="0" i="0" u="none" strike="noStrike" baseline="0" dirty="0"/>
          </a:p>
          <a:p>
            <a:pPr marL="0" indent="0" algn="l">
              <a:buNone/>
            </a:pPr>
            <a:r>
              <a:rPr lang="de-DE" sz="1800" b="0" i="0" u="none" strike="noStrike" baseline="0" dirty="0"/>
              <a:t>76.799+0.106  46 (</a:t>
            </a:r>
            <a:r>
              <a:rPr lang="de-DE" sz="1800" b="1" i="0" u="none" strike="noStrike" baseline="0" dirty="0"/>
              <a:t>Alter</a:t>
            </a:r>
            <a:r>
              <a:rPr lang="de-DE" sz="1800" b="0" i="0" u="none" strike="noStrike" baseline="0" dirty="0"/>
              <a:t>)+4.42 (</a:t>
            </a:r>
            <a:r>
              <a:rPr lang="de-DE" sz="1800" b="1" i="0" u="none" strike="noStrike" baseline="0" dirty="0"/>
              <a:t>Geschlecht</a:t>
            </a:r>
            <a:r>
              <a:rPr lang="de-DE" sz="1800" b="0" i="0" u="none" strike="noStrike" baseline="0" dirty="0"/>
              <a:t>)+0 (</a:t>
            </a:r>
            <a:r>
              <a:rPr lang="de-DE" sz="1800" b="1" i="0" u="none" strike="noStrike" baseline="0" dirty="0"/>
              <a:t>Geschwisterposition</a:t>
            </a:r>
            <a:r>
              <a:rPr lang="de-DE" sz="1800" b="0" i="0" u="none" strike="noStrike" baseline="0" dirty="0"/>
              <a:t>)+8.692 (</a:t>
            </a:r>
            <a:r>
              <a:rPr lang="de-DE" sz="1800" b="1" i="0" u="none" strike="noStrike" baseline="0" dirty="0"/>
              <a:t>Schulabschluss</a:t>
            </a:r>
            <a:r>
              <a:rPr lang="de-DE" sz="1800" b="0" i="0" u="none" strike="noStrike" baseline="0" dirty="0"/>
              <a:t>) +0 (</a:t>
            </a:r>
            <a:r>
              <a:rPr lang="de-DE" sz="1800" b="1" i="0" u="none" strike="noStrike" baseline="0" dirty="0"/>
              <a:t>Gesamtnote</a:t>
            </a:r>
            <a:r>
              <a:rPr lang="de-DE" sz="1800" b="0" i="0" u="none" strike="noStrike" baseline="0" dirty="0"/>
              <a:t>)+2.87 (</a:t>
            </a:r>
            <a:r>
              <a:rPr lang="de-DE" sz="1800" b="1" i="0" u="none" strike="noStrike" baseline="0" dirty="0"/>
              <a:t>Wohnort</a:t>
            </a:r>
            <a:r>
              <a:rPr lang="de-DE" sz="1800" b="0" i="0" u="none" strike="noStrike" baseline="0" dirty="0"/>
              <a:t>)+0 (</a:t>
            </a:r>
            <a:r>
              <a:rPr lang="de-DE" sz="1800" b="1" i="0" u="none" strike="noStrike" baseline="0" dirty="0"/>
              <a:t>Internetnutzung</a:t>
            </a:r>
            <a:r>
              <a:rPr lang="de-DE" sz="1800" b="0" i="0" u="none" strike="noStrike" baseline="0" dirty="0"/>
              <a:t>)+8.017 (</a:t>
            </a:r>
            <a:r>
              <a:rPr lang="de-DE" sz="1800" b="1" i="0" u="none" strike="noStrike" baseline="0" dirty="0"/>
              <a:t>Zeitungslektüre</a:t>
            </a:r>
            <a:r>
              <a:rPr lang="de-DE" sz="1800" b="0" i="0" u="none" strike="noStrike" baseline="0" dirty="0"/>
              <a:t>)+9.887 (</a:t>
            </a:r>
            <a:r>
              <a:rPr lang="de-DE" sz="1800" b="1" i="0" u="none" strike="noStrike" baseline="0" dirty="0"/>
              <a:t>Buchlektüre</a:t>
            </a:r>
            <a:r>
              <a:rPr lang="de-DE" sz="1800" b="0" i="0" u="none" strike="noStrike" baseline="0" dirty="0"/>
              <a:t>)</a:t>
            </a:r>
            <a:endParaRPr lang="de-DE" dirty="0"/>
          </a:p>
        </p:txBody>
      </p:sp>
      <p:sp>
        <p:nvSpPr>
          <p:cNvPr id="4" name="Datumsplatzhalter 3">
            <a:extLst>
              <a:ext uri="{FF2B5EF4-FFF2-40B4-BE49-F238E27FC236}">
                <a16:creationId xmlns:a16="http://schemas.microsoft.com/office/drawing/2014/main" id="{BCB2B92C-D6E3-5237-C30A-A7AF31B95491}"/>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2BF926C7-8FB0-A6C5-3A45-392260D317A3}"/>
              </a:ext>
            </a:extLst>
          </p:cNvPr>
          <p:cNvSpPr>
            <a:spLocks noGrp="1"/>
          </p:cNvSpPr>
          <p:nvPr>
            <p:ph type="sldNum" sz="quarter" idx="12"/>
          </p:nvPr>
        </p:nvSpPr>
        <p:spPr/>
        <p:txBody>
          <a:bodyPr/>
          <a:lstStyle/>
          <a:p>
            <a:fld id="{23A701DC-EF14-4B96-8CB3-3CDF492F23EA}" type="slidenum">
              <a:rPr lang="de-DE" smtClean="0"/>
              <a:pPr/>
              <a:t>21</a:t>
            </a:fld>
            <a:endParaRPr lang="de-DE" dirty="0"/>
          </a:p>
        </p:txBody>
      </p:sp>
    </p:spTree>
    <p:extLst>
      <p:ext uri="{BB962C8B-B14F-4D97-AF65-F5344CB8AC3E}">
        <p14:creationId xmlns:p14="http://schemas.microsoft.com/office/powerpoint/2010/main" val="601206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A59335-3507-0DB8-9A21-6B9BFB6AF076}"/>
              </a:ext>
            </a:extLst>
          </p:cNvPr>
          <p:cNvSpPr>
            <a:spLocks noGrp="1"/>
          </p:cNvSpPr>
          <p:nvPr>
            <p:ph type="title"/>
          </p:nvPr>
        </p:nvSpPr>
        <p:spPr/>
        <p:txBody>
          <a:bodyPr>
            <a:normAutofit fontScale="90000"/>
          </a:bodyPr>
          <a:lstStyle/>
          <a:p>
            <a:r>
              <a:rPr lang="de-DE" sz="3200" dirty="0"/>
              <a:t>Schätzung der prämorbiden kognitiven Leistungsfähigkeit von Patienten</a:t>
            </a:r>
            <a:endParaRPr lang="de-DE" dirty="0"/>
          </a:p>
        </p:txBody>
      </p:sp>
      <p:sp>
        <p:nvSpPr>
          <p:cNvPr id="3" name="Inhaltsplatzhalter 2">
            <a:extLst>
              <a:ext uri="{FF2B5EF4-FFF2-40B4-BE49-F238E27FC236}">
                <a16:creationId xmlns:a16="http://schemas.microsoft.com/office/drawing/2014/main" id="{3E64F3DA-8F8F-407F-F6DF-EEFEFD1424AB}"/>
              </a:ext>
            </a:extLst>
          </p:cNvPr>
          <p:cNvSpPr>
            <a:spLocks noGrp="1"/>
          </p:cNvSpPr>
          <p:nvPr>
            <p:ph idx="1"/>
          </p:nvPr>
        </p:nvSpPr>
        <p:spPr/>
        <p:txBody>
          <a:bodyPr/>
          <a:lstStyle/>
          <a:p>
            <a:pPr marL="342900" indent="-342900">
              <a:buFont typeface="+mj-lt"/>
              <a:buAutoNum type="alphaLcPeriod" startAt="3"/>
            </a:pPr>
            <a:r>
              <a:rPr lang="de-DE" sz="1800" b="1" dirty="0">
                <a:effectLst/>
              </a:rPr>
              <a:t>Tests zur Schätzung der prämorbiden kognitiven Leistungsfähigkeit</a:t>
            </a:r>
          </a:p>
          <a:p>
            <a:pPr marL="342900" indent="-342900">
              <a:buFont typeface="+mj-lt"/>
              <a:buAutoNum type="alphaLcPeriod" startAt="3"/>
            </a:pPr>
            <a:endParaRPr lang="de-DE" b="1" dirty="0"/>
          </a:p>
          <a:p>
            <a:r>
              <a:rPr lang="de-DE" sz="1400" dirty="0"/>
              <a:t>Basieren fast immer auf der Erfassung der kristallinen Intelligenz. </a:t>
            </a:r>
          </a:p>
          <a:p>
            <a:endParaRPr lang="de-DE" sz="1400" dirty="0"/>
          </a:p>
          <a:p>
            <a:r>
              <a:rPr lang="de-DE" sz="1400" dirty="0"/>
              <a:t>Beruht auf der Vorstellung, dass die kristalline Intelligenz nach Schädigungen des Gehirns weniger Anfällig für Veränderungen ist im Vergleich zu anderen Intelligenzkomponenten.</a:t>
            </a:r>
          </a:p>
          <a:p>
            <a:endParaRPr lang="de-DE" sz="1400" dirty="0"/>
          </a:p>
          <a:p>
            <a:r>
              <a:rPr lang="de-DE" sz="1400" dirty="0"/>
              <a:t>Typische Leistungstests, die zu diesem Zweck eingesetzt werden sind der „</a:t>
            </a:r>
            <a:r>
              <a:rPr lang="de-DE" sz="1400" b="1" dirty="0"/>
              <a:t>National Adult Reading Test</a:t>
            </a:r>
            <a:r>
              <a:rPr lang="de-DE" sz="1400" dirty="0"/>
              <a:t>“ (</a:t>
            </a:r>
            <a:r>
              <a:rPr lang="de-DE" sz="1400" b="1" dirty="0"/>
              <a:t>NART</a:t>
            </a:r>
            <a:r>
              <a:rPr lang="de-DE" sz="1400" dirty="0"/>
              <a:t>; überwiegend im englischsprachigen Raum) oder der </a:t>
            </a:r>
            <a:r>
              <a:rPr lang="de-DE" sz="1400" b="1" dirty="0"/>
              <a:t>Mehrfachwahl-Wortschatz-Test in der Form B </a:t>
            </a:r>
            <a:r>
              <a:rPr lang="de-DE" sz="1400" dirty="0"/>
              <a:t>(</a:t>
            </a:r>
            <a:r>
              <a:rPr lang="de-DE" sz="1400" b="1" dirty="0"/>
              <a:t>MWT-B</a:t>
            </a:r>
            <a:r>
              <a:rPr lang="de-DE" sz="1400" dirty="0"/>
              <a:t>)</a:t>
            </a:r>
          </a:p>
          <a:p>
            <a:r>
              <a:rPr lang="de-DE" sz="1400" dirty="0"/>
              <a:t>Probleme: </a:t>
            </a:r>
          </a:p>
          <a:p>
            <a:pPr marL="0" indent="0">
              <a:buNone/>
            </a:pPr>
            <a:r>
              <a:rPr lang="de-DE" sz="1400" dirty="0"/>
              <a:t>	</a:t>
            </a:r>
            <a:r>
              <a:rPr lang="de-DE" sz="1400" b="1" dirty="0"/>
              <a:t>(1) </a:t>
            </a:r>
            <a:r>
              <a:rPr lang="de-DE" sz="1400" dirty="0"/>
              <a:t>Häufig nicht durchführbar bei fortgeschrittenen kognitiven Beeinträchtigungen. </a:t>
            </a:r>
          </a:p>
          <a:p>
            <a:pPr marL="0" indent="0">
              <a:buNone/>
            </a:pPr>
            <a:r>
              <a:rPr lang="de-DE" sz="1400" dirty="0"/>
              <a:t>	</a:t>
            </a:r>
            <a:r>
              <a:rPr lang="de-DE" sz="1400" b="1" dirty="0"/>
              <a:t>(2) </a:t>
            </a:r>
            <a:r>
              <a:rPr lang="de-DE" sz="1400" dirty="0"/>
              <a:t>Vorstellung dass kristalline Intelligenz weitestgehend erhalten bleibt nach 	  	Gehirnschädigung mehr als fragwürdig.</a:t>
            </a:r>
          </a:p>
        </p:txBody>
      </p:sp>
      <p:sp>
        <p:nvSpPr>
          <p:cNvPr id="4" name="Datumsplatzhalter 3">
            <a:extLst>
              <a:ext uri="{FF2B5EF4-FFF2-40B4-BE49-F238E27FC236}">
                <a16:creationId xmlns:a16="http://schemas.microsoft.com/office/drawing/2014/main" id="{90160436-4CBC-CE16-F5C0-EDDB7D9F7711}"/>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CBF384BB-ECB2-0A07-FB42-E1DCE5E79FFB}"/>
              </a:ext>
            </a:extLst>
          </p:cNvPr>
          <p:cNvSpPr>
            <a:spLocks noGrp="1"/>
          </p:cNvSpPr>
          <p:nvPr>
            <p:ph type="sldNum" sz="quarter" idx="12"/>
          </p:nvPr>
        </p:nvSpPr>
        <p:spPr/>
        <p:txBody>
          <a:bodyPr/>
          <a:lstStyle/>
          <a:p>
            <a:fld id="{23A701DC-EF14-4B96-8CB3-3CDF492F23EA}" type="slidenum">
              <a:rPr lang="de-DE" smtClean="0"/>
              <a:pPr/>
              <a:t>22</a:t>
            </a:fld>
            <a:endParaRPr lang="de-DE" dirty="0"/>
          </a:p>
        </p:txBody>
      </p:sp>
    </p:spTree>
    <p:extLst>
      <p:ext uri="{BB962C8B-B14F-4D97-AF65-F5344CB8AC3E}">
        <p14:creationId xmlns:p14="http://schemas.microsoft.com/office/powerpoint/2010/main" val="115908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EAD5AB-F3BB-01E4-3B2A-0FDDAF865E54}"/>
              </a:ext>
            </a:extLst>
          </p:cNvPr>
          <p:cNvSpPr>
            <a:spLocks noGrp="1"/>
          </p:cNvSpPr>
          <p:nvPr>
            <p:ph type="title"/>
          </p:nvPr>
        </p:nvSpPr>
        <p:spPr/>
        <p:txBody>
          <a:bodyPr/>
          <a:lstStyle/>
          <a:p>
            <a:r>
              <a:rPr lang="de-DE" dirty="0"/>
              <a:t>Literatur</a:t>
            </a:r>
          </a:p>
        </p:txBody>
      </p:sp>
      <p:sp>
        <p:nvSpPr>
          <p:cNvPr id="3" name="Inhaltsplatzhalter 2">
            <a:extLst>
              <a:ext uri="{FF2B5EF4-FFF2-40B4-BE49-F238E27FC236}">
                <a16:creationId xmlns:a16="http://schemas.microsoft.com/office/drawing/2014/main" id="{FFA981F4-4F6D-5110-C4F2-8B261B35DEE9}"/>
              </a:ext>
            </a:extLst>
          </p:cNvPr>
          <p:cNvSpPr>
            <a:spLocks noGrp="1"/>
          </p:cNvSpPr>
          <p:nvPr>
            <p:ph idx="1"/>
          </p:nvPr>
        </p:nvSpPr>
        <p:spPr/>
        <p:txBody>
          <a:bodyPr/>
          <a:lstStyle/>
          <a:p>
            <a:r>
              <a:rPr lang="de-DE" sz="1800" dirty="0">
                <a:effectLst/>
                <a:latin typeface="Calibri" panose="020F0502020204030204" pitchFamily="34" charset="0"/>
                <a:ea typeface="Calibri" panose="020F0502020204030204" pitchFamily="34" charset="0"/>
              </a:rPr>
              <a:t>Erzberger, C. S. &amp; Engel, R. R. (2010). Zur Äquivalenz der Normen des Wechsler-Intelligenztests für Erwachsene (WIE) mit denen des Hamburg-Wechsler-Intelligenztests für Erwachsene – Revision (HAWIE-R). </a:t>
            </a:r>
            <a:r>
              <a:rPr lang="de-DE" sz="1800" i="1" dirty="0">
                <a:effectLst/>
                <a:latin typeface="Calibri" panose="020F0502020204030204" pitchFamily="34" charset="0"/>
                <a:ea typeface="Calibri" panose="020F0502020204030204" pitchFamily="34" charset="0"/>
              </a:rPr>
              <a:t>Zeitschrift für Neuropsychologie</a:t>
            </a:r>
            <a:r>
              <a:rPr lang="de-DE" sz="1800" dirty="0">
                <a:effectLst/>
                <a:latin typeface="Calibri" panose="020F0502020204030204" pitchFamily="34" charset="0"/>
                <a:ea typeface="Calibri" panose="020F0502020204030204" pitchFamily="34" charset="0"/>
              </a:rPr>
              <a:t>, </a:t>
            </a:r>
            <a:r>
              <a:rPr lang="de-DE" sz="1800" i="1" dirty="0">
                <a:effectLst/>
                <a:latin typeface="Calibri" panose="020F0502020204030204" pitchFamily="34" charset="0"/>
                <a:ea typeface="Calibri" panose="020F0502020204030204" pitchFamily="34" charset="0"/>
              </a:rPr>
              <a:t>21</a:t>
            </a:r>
            <a:r>
              <a:rPr lang="de-DE" sz="1800" dirty="0">
                <a:effectLst/>
                <a:latin typeface="Calibri" panose="020F0502020204030204" pitchFamily="34" charset="0"/>
                <a:ea typeface="Calibri" panose="020F0502020204030204" pitchFamily="34" charset="0"/>
              </a:rPr>
              <a:t>(1), 25–37. </a:t>
            </a:r>
          </a:p>
          <a:p>
            <a:endParaRPr lang="de-DE" dirty="0">
              <a:latin typeface="Calibri" panose="020F0502020204030204" pitchFamily="34" charset="0"/>
              <a:ea typeface="Calibri" panose="020F0502020204030204" pitchFamily="34" charset="0"/>
            </a:endParaRPr>
          </a:p>
          <a:p>
            <a:r>
              <a:rPr lang="de-DE" sz="1800" dirty="0">
                <a:effectLst/>
                <a:latin typeface="Calibri" panose="020F0502020204030204" pitchFamily="34" charset="0"/>
                <a:ea typeface="Calibri" panose="020F0502020204030204" pitchFamily="34" charset="0"/>
              </a:rPr>
              <a:t>Jahn, T., </a:t>
            </a:r>
            <a:r>
              <a:rPr lang="de-DE" sz="1800" dirty="0" err="1">
                <a:effectLst/>
                <a:latin typeface="Calibri" panose="020F0502020204030204" pitchFamily="34" charset="0"/>
                <a:ea typeface="Calibri" panose="020F0502020204030204" pitchFamily="34" charset="0"/>
              </a:rPr>
              <a:t>Beitlich</a:t>
            </a:r>
            <a:r>
              <a:rPr lang="de-DE" sz="1800" dirty="0">
                <a:effectLst/>
                <a:latin typeface="Calibri" panose="020F0502020204030204" pitchFamily="34" charset="0"/>
                <a:ea typeface="Calibri" panose="020F0502020204030204" pitchFamily="34" charset="0"/>
              </a:rPr>
              <a:t>, D., Hepp, S., Knecht, R., Köhler, K., Ortner, C., </a:t>
            </a:r>
            <a:r>
              <a:rPr lang="de-DE" sz="1800" dirty="0" err="1">
                <a:effectLst/>
                <a:latin typeface="Calibri" panose="020F0502020204030204" pitchFamily="34" charset="0"/>
                <a:ea typeface="Calibri" panose="020F0502020204030204" pitchFamily="34" charset="0"/>
              </a:rPr>
              <a:t>Sperger</a:t>
            </a:r>
            <a:r>
              <a:rPr lang="de-DE" sz="1800" dirty="0">
                <a:effectLst/>
                <a:latin typeface="Calibri" panose="020F0502020204030204" pitchFamily="34" charset="0"/>
                <a:ea typeface="Calibri" panose="020F0502020204030204" pitchFamily="34" charset="0"/>
              </a:rPr>
              <a:t>, E. &amp; Kerkhoff, G. (2013). Drei Sozialformeln zur Schätzung der (prämorbiden) Intelligenzquotienten nach Wechsler. </a:t>
            </a:r>
            <a:r>
              <a:rPr lang="de-DE" sz="1800" i="1" dirty="0">
                <a:effectLst/>
                <a:latin typeface="Calibri" panose="020F0502020204030204" pitchFamily="34" charset="0"/>
                <a:ea typeface="Calibri" panose="020F0502020204030204" pitchFamily="34" charset="0"/>
              </a:rPr>
              <a:t>Zeitschrift für Neuropsychologie</a:t>
            </a:r>
            <a:r>
              <a:rPr lang="de-DE" sz="1800" dirty="0">
                <a:effectLst/>
                <a:latin typeface="Calibri" panose="020F0502020204030204" pitchFamily="34" charset="0"/>
                <a:ea typeface="Calibri" panose="020F0502020204030204" pitchFamily="34" charset="0"/>
              </a:rPr>
              <a:t>, </a:t>
            </a:r>
            <a:r>
              <a:rPr lang="de-DE" sz="1800" i="1" dirty="0">
                <a:effectLst/>
                <a:latin typeface="Calibri" panose="020F0502020204030204" pitchFamily="34" charset="0"/>
                <a:ea typeface="Calibri" panose="020F0502020204030204" pitchFamily="34" charset="0"/>
              </a:rPr>
              <a:t>24</a:t>
            </a:r>
            <a:r>
              <a:rPr lang="de-DE" sz="1800" dirty="0">
                <a:effectLst/>
                <a:latin typeface="Calibri" panose="020F0502020204030204" pitchFamily="34" charset="0"/>
                <a:ea typeface="Calibri" panose="020F0502020204030204" pitchFamily="34" charset="0"/>
              </a:rPr>
              <a:t>(1), 7–24. https://doi.org/10.1024/1016-264X/a000084</a:t>
            </a:r>
          </a:p>
          <a:p>
            <a:pPr marL="0" indent="0">
              <a:buNone/>
            </a:pPr>
            <a:endParaRPr lang="de-DE" dirty="0">
              <a:ea typeface="Calibri" panose="020F0502020204030204" pitchFamily="34" charset="0"/>
            </a:endParaRPr>
          </a:p>
          <a:p>
            <a:r>
              <a:rPr lang="de-DE" sz="1800" dirty="0">
                <a:effectLst/>
                <a:ea typeface="Calibri" panose="020F0502020204030204" pitchFamily="34" charset="0"/>
              </a:rPr>
              <a:t>Schmidt-</a:t>
            </a:r>
            <a:r>
              <a:rPr lang="de-DE" sz="1800" dirty="0" err="1">
                <a:effectLst/>
                <a:ea typeface="Calibri" panose="020F0502020204030204" pitchFamily="34" charset="0"/>
              </a:rPr>
              <a:t>Atzert</a:t>
            </a:r>
            <a:r>
              <a:rPr lang="de-DE" sz="1800" dirty="0">
                <a:effectLst/>
                <a:ea typeface="Calibri" panose="020F0502020204030204" pitchFamily="34" charset="0"/>
              </a:rPr>
              <a:t>, L., Krumm, S., &amp; </a:t>
            </a:r>
            <a:r>
              <a:rPr lang="de-DE" sz="1800" dirty="0" err="1">
                <a:effectLst/>
                <a:ea typeface="Calibri" panose="020F0502020204030204" pitchFamily="34" charset="0"/>
              </a:rPr>
              <a:t>Amelang</a:t>
            </a:r>
            <a:r>
              <a:rPr lang="de-DE" sz="1800" dirty="0">
                <a:effectLst/>
                <a:ea typeface="Calibri" panose="020F0502020204030204" pitchFamily="34" charset="0"/>
              </a:rPr>
              <a:t>, M. (Eds.). (2021). </a:t>
            </a:r>
            <a:r>
              <a:rPr lang="de-DE" sz="1800" i="1" dirty="0">
                <a:effectLst/>
                <a:ea typeface="Calibri" panose="020F0502020204030204" pitchFamily="34" charset="0"/>
              </a:rPr>
              <a:t>Lehrbuch</a:t>
            </a:r>
            <a:r>
              <a:rPr lang="de-DE" sz="1800" dirty="0">
                <a:effectLst/>
                <a:ea typeface="Calibri" panose="020F0502020204030204" pitchFamily="34" charset="0"/>
              </a:rPr>
              <a:t>. </a:t>
            </a:r>
            <a:r>
              <a:rPr lang="de-DE" sz="1800" i="1" dirty="0">
                <a:effectLst/>
                <a:ea typeface="Calibri" panose="020F0502020204030204" pitchFamily="34" charset="0"/>
              </a:rPr>
              <a:t>Psychologische Diagnostik </a:t>
            </a:r>
            <a:r>
              <a:rPr lang="de-DE" sz="1800" dirty="0">
                <a:effectLst/>
                <a:ea typeface="Calibri" panose="020F0502020204030204" pitchFamily="34" charset="0"/>
              </a:rPr>
              <a:t>(6., vollständig überarbeitete Auflage). Springer. (</a:t>
            </a:r>
            <a:r>
              <a:rPr lang="de-DE" sz="1800" b="1" dirty="0">
                <a:effectLst/>
                <a:ea typeface="Calibri" panose="020F0502020204030204" pitchFamily="34" charset="0"/>
              </a:rPr>
              <a:t>Seiten: 738-740)</a:t>
            </a:r>
          </a:p>
          <a:p>
            <a:endParaRPr lang="de-DE" b="1" dirty="0">
              <a:ea typeface="Calibri" panose="020F0502020204030204" pitchFamily="34" charset="0"/>
            </a:endParaRPr>
          </a:p>
          <a:p>
            <a:endParaRPr lang="de-DE" sz="1800" b="1" dirty="0">
              <a:effectLst/>
              <a:ea typeface="Calibri" panose="020F0502020204030204" pitchFamily="34" charset="0"/>
            </a:endParaRPr>
          </a:p>
          <a:p>
            <a:pPr marL="0" indent="0">
              <a:buNone/>
            </a:pPr>
            <a:endParaRPr lang="de-DE" dirty="0"/>
          </a:p>
        </p:txBody>
      </p:sp>
      <p:sp>
        <p:nvSpPr>
          <p:cNvPr id="4" name="Datumsplatzhalter 3">
            <a:extLst>
              <a:ext uri="{FF2B5EF4-FFF2-40B4-BE49-F238E27FC236}">
                <a16:creationId xmlns:a16="http://schemas.microsoft.com/office/drawing/2014/main" id="{65508303-BFB2-C60F-0EB3-0299C8786905}"/>
              </a:ext>
            </a:extLst>
          </p:cNvPr>
          <p:cNvSpPr>
            <a:spLocks noGrp="1"/>
          </p:cNvSpPr>
          <p:nvPr>
            <p:ph type="dt" sz="half" idx="10"/>
          </p:nvPr>
        </p:nvSpPr>
        <p:spPr/>
        <p:txBody>
          <a:bodyPr/>
          <a:lstStyle/>
          <a:p>
            <a:fld id="{88BEAA1A-113D-4DB7-B5A0-0BD3DEA216BD}" type="datetime1">
              <a:rPr lang="de-DE" smtClean="0"/>
              <a:pPr/>
              <a:t>30.06.25</a:t>
            </a:fld>
            <a:endParaRPr lang="de-DE" dirty="0"/>
          </a:p>
        </p:txBody>
      </p:sp>
      <p:sp>
        <p:nvSpPr>
          <p:cNvPr id="5" name="Foliennummernplatzhalter 4">
            <a:extLst>
              <a:ext uri="{FF2B5EF4-FFF2-40B4-BE49-F238E27FC236}">
                <a16:creationId xmlns:a16="http://schemas.microsoft.com/office/drawing/2014/main" id="{E240E1A1-A9F6-051F-6CF6-F80671E90D70}"/>
              </a:ext>
            </a:extLst>
          </p:cNvPr>
          <p:cNvSpPr>
            <a:spLocks noGrp="1"/>
          </p:cNvSpPr>
          <p:nvPr>
            <p:ph type="sldNum" sz="quarter" idx="12"/>
          </p:nvPr>
        </p:nvSpPr>
        <p:spPr/>
        <p:txBody>
          <a:bodyPr/>
          <a:lstStyle/>
          <a:p>
            <a:fld id="{23A701DC-EF14-4B96-8CB3-3CDF492F23EA}" type="slidenum">
              <a:rPr lang="de-DE" smtClean="0"/>
              <a:pPr/>
              <a:t>23</a:t>
            </a:fld>
            <a:endParaRPr lang="de-DE" dirty="0"/>
          </a:p>
        </p:txBody>
      </p:sp>
    </p:spTree>
    <p:extLst>
      <p:ext uri="{BB962C8B-B14F-4D97-AF65-F5344CB8AC3E}">
        <p14:creationId xmlns:p14="http://schemas.microsoft.com/office/powerpoint/2010/main" val="277618881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1627</Words>
  <Application>Microsoft Macintosh PowerPoint</Application>
  <PresentationFormat>Bildschirmpräsentation (4:3)</PresentationFormat>
  <Paragraphs>214</Paragraphs>
  <Slides>23</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23</vt:i4>
      </vt:variant>
    </vt:vector>
  </HeadingPairs>
  <TitlesOfParts>
    <vt:vector size="27" baseType="lpstr">
      <vt:lpstr>Arial</vt:lpstr>
      <vt:lpstr>Calibri</vt:lpstr>
      <vt:lpstr>Calibri Light</vt:lpstr>
      <vt:lpstr>Office</vt:lpstr>
      <vt:lpstr> Sitzung 9 (30.06.2025)  Grundlagen der psychologischen Diagnostik und des diagnostischen Prozesses im Kontext des klinisch-neuropsychologischen Anwendungsbereichs  (M-PG-Seminar)</vt:lpstr>
      <vt:lpstr>Wiederholung</vt:lpstr>
      <vt:lpstr>Wiederholung</vt:lpstr>
      <vt:lpstr>Problem prämorbides Leistungsniveau</vt:lpstr>
      <vt:lpstr>Beispiel: auffällige Anzahl niedriger Werte in der „Wechsler Memory Scale“ (WMS) </vt:lpstr>
      <vt:lpstr>Problem prämorbides Leistungsniveau</vt:lpstr>
      <vt:lpstr>Potentielle Lösung: Schätzung des prämorbiden Leistungsniveaus</vt:lpstr>
      <vt:lpstr>Wie lässt sich die prämorbide kognitive Leistungsfähigkeit in Patienten schätzen?</vt:lpstr>
      <vt:lpstr>Gruppenarbeit</vt:lpstr>
      <vt:lpstr>Schätzung der prämorbiden kognitiven Leistungsfähigkeit von Patienten</vt:lpstr>
      <vt:lpstr>Schätzung der prämorbiden kognitiven Leistungsfähigkeit von Patienten</vt:lpstr>
      <vt:lpstr>Schätzung der prämorbiden kognitiven Leistungsfähigkeit von Patienten</vt:lpstr>
      <vt:lpstr>Schätzung der prämorbiden kognitiven Leistungsfähigkeit von Patienten</vt:lpstr>
      <vt:lpstr>Schätzung der prämorbiden kognitiven Leistungsfähigkeit von Patienten</vt:lpstr>
      <vt:lpstr>Schätzung der prämorbiden kognitiven Leistungsfähigkeit von Patienten</vt:lpstr>
      <vt:lpstr>Schätzung der prämorbiden kognitiven Leistungsfähigkeit von Patienten</vt:lpstr>
      <vt:lpstr>Schätzung der prämorbiden kognitiven Leistungsfähigkeit von Patienten</vt:lpstr>
      <vt:lpstr>Übung: Bestimmung der prämorbiden Intelligenz mittels der Sozialformel von Jahn et al. (2013)</vt:lpstr>
      <vt:lpstr>PowerPoint-Präsentation</vt:lpstr>
      <vt:lpstr>Fallbeispiel</vt:lpstr>
      <vt:lpstr>Lösung Fallbeispiel</vt:lpstr>
      <vt:lpstr>Schätzung der prämorbiden kognitiven Leistungsfähigkeit von Patienten</vt:lpstr>
      <vt:lpstr>Literatur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Philipp Bierwirth lokal</dc:creator>
  <cp:lastModifiedBy>Philipp Bierwirth</cp:lastModifiedBy>
  <cp:revision>150</cp:revision>
  <dcterms:created xsi:type="dcterms:W3CDTF">2022-10-20T07:44:19Z</dcterms:created>
  <dcterms:modified xsi:type="dcterms:W3CDTF">2025-06-30T15:42:30Z</dcterms:modified>
</cp:coreProperties>
</file>