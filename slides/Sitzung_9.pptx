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media/image9.tif" ContentType="image/tiff"/>
  <Override PartName="/ppt/media/image7.svg" ContentType="image/svg"/>
  <Override PartName="/ppt/media/image19.svg" ContentType="image/svg"/>
  <Override PartName="/ppt/media/image20.tif" ContentType="image/tiff"/>
  <Override PartName="/ppt/media/image2.svg" ContentType="image/svg"/>
  <Override PartName="/ppt/media/image4.svg" ContentType="image/svg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de-DE" sz="6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move the slide</a:t>
            </a:r>
            <a:endParaRPr lang="de-DE" sz="6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dt" idx="3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ftr" idx="3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sldNum" idx="3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8E0775E-AC5B-4786-B787-5F65398C9D1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1560" cy="308304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477AADE-7883-46B7-80F1-DADE4E658EEE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29640" y="456840"/>
            <a:ext cx="2945880" cy="1597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886920" y="986760"/>
            <a:ext cx="4625640" cy="487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29640" y="2057400"/>
            <a:ext cx="2945880" cy="380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62784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028680" y="6356160"/>
            <a:ext cx="308340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45768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1515963-4648-4F20-BA1E-64471F0EC172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29640" y="456840"/>
            <a:ext cx="2945880" cy="1597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886920" y="986760"/>
            <a:ext cx="4625640" cy="4870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Bild durch Klicken auf Symbol hinzufügen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29640" y="2057400"/>
            <a:ext cx="2945880" cy="380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4"/>
          </p:nvPr>
        </p:nvSpPr>
        <p:spPr>
          <a:xfrm>
            <a:off x="62784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3028680" y="6356160"/>
            <a:ext cx="308340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645768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44E4CB6-08BF-4B70-9D46-75A919797B22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elfolie">
    <p:bg>
      <p:bgPr>
        <a:solidFill>
          <a:srgbClr val="2E3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91560" y="2339280"/>
            <a:ext cx="7769160" cy="165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de-DE" sz="6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6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Mastertitelformat bearbeiten</a:t>
            </a:r>
            <a:endParaRPr lang="de-DE" sz="6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5" name="Grafik 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566440" y="-460800"/>
            <a:ext cx="4572720" cy="251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2"/>
          <p:cNvSpPr>
            <a:spLocks noGrp="1"/>
          </p:cNvSpPr>
          <p:nvPr>
            <p:ph type="dt" idx="7"/>
          </p:nvPr>
        </p:nvSpPr>
        <p:spPr>
          <a:xfrm>
            <a:off x="62784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8"/>
          </p:nvPr>
        </p:nvSpPr>
        <p:spPr>
          <a:xfrm>
            <a:off x="3028680" y="6356160"/>
            <a:ext cx="308340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9"/>
          </p:nvPr>
        </p:nvSpPr>
        <p:spPr>
          <a:xfrm>
            <a:off x="645768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A587841-1986-4C51-98ED-3D0864893E20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9" name="Grafik 22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27840" y="1214640"/>
            <a:ext cx="7769160" cy="92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7080" cy="397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2E3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91560" y="2339280"/>
            <a:ext cx="7769160" cy="165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de-DE" sz="6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6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Mastertitelformat bearbeiten</a:t>
            </a:r>
            <a:endParaRPr lang="de-DE" sz="6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2" name="Grafik 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566440" y="-460800"/>
            <a:ext cx="4572720" cy="251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2"/>
          <p:cNvSpPr>
            <a:spLocks noGrp="1"/>
          </p:cNvSpPr>
          <p:nvPr>
            <p:ph type="dt" idx="10"/>
          </p:nvPr>
        </p:nvSpPr>
        <p:spPr>
          <a:xfrm>
            <a:off x="62784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11"/>
          </p:nvPr>
        </p:nvSpPr>
        <p:spPr>
          <a:xfrm>
            <a:off x="3028680" y="6356160"/>
            <a:ext cx="308340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2"/>
          </p:nvPr>
        </p:nvSpPr>
        <p:spPr>
          <a:xfrm>
            <a:off x="645768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4A8538F-B3F2-49CF-B4FC-AA544A9D9BC1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6" name="Grafik 22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27840" y="1214640"/>
            <a:ext cx="7769160" cy="92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7080" cy="397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27840" y="364320"/>
            <a:ext cx="788400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27840" y="1825200"/>
            <a:ext cx="7884000" cy="434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>
            <a:off x="62784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>
            <a:off x="3028680" y="6356160"/>
            <a:ext cx="308340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645768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8F37195-7A7D-4F9A-AD14-71026BEBBB23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543360" y="364320"/>
            <a:ext cx="1968480" cy="580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27840" y="364320"/>
            <a:ext cx="5797440" cy="5808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6"/>
          </p:nvPr>
        </p:nvSpPr>
        <p:spPr>
          <a:xfrm>
            <a:off x="62784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17"/>
          </p:nvPr>
        </p:nvSpPr>
        <p:spPr>
          <a:xfrm>
            <a:off x="3028680" y="6356160"/>
            <a:ext cx="308340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18"/>
          </p:nvPr>
        </p:nvSpPr>
        <p:spPr>
          <a:xfrm>
            <a:off x="645768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61EC0D3-260E-4FC1-A0D4-4E2C68DB62C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bg>
      <p:bgPr>
        <a:solidFill>
          <a:srgbClr val="2E3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27840" y="934560"/>
            <a:ext cx="788400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Mastertitelformat bearbeiten</a:t>
            </a:r>
            <a:endParaRPr lang="de-DE" sz="3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27840" y="2360520"/>
            <a:ext cx="7884000" cy="381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Mastertextformat bearbeiten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Zweite Ebene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Dritte Ebene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Vierte Ebene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Fünfte Ebene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19"/>
          </p:nvPr>
        </p:nvSpPr>
        <p:spPr>
          <a:xfrm>
            <a:off x="627840" y="6356160"/>
            <a:ext cx="2054160" cy="361800"/>
          </a:xfrm>
          <a:prstGeom prst="rect">
            <a:avLst/>
          </a:prstGeom>
          <a:solidFill>
            <a:srgbClr val="2E344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tint val="82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tint val="82000"/>
                  </a:schemeClr>
                </a:solidFill>
                <a:effectLst/>
                <a:uFillTx/>
                <a:latin typeface="Arial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0"/>
          </p:nvPr>
        </p:nvSpPr>
        <p:spPr>
          <a:xfrm>
            <a:off x="3028680" y="6356160"/>
            <a:ext cx="308340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1"/>
          </p:nvPr>
        </p:nvSpPr>
        <p:spPr>
          <a:xfrm>
            <a:off x="645768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tint val="82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5C2637F-54A3-4F0B-9523-B6A9FA1FDBF6}" type="slidenum">
              <a:rPr lang="de-DE" sz="1200" b="0" u="none" strike="noStrike">
                <a:solidFill>
                  <a:schemeClr val="lt1">
                    <a:tint val="82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3" name="Grafik 9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371040" y="-271440"/>
            <a:ext cx="2739960" cy="15080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&#10;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23520" y="1708920"/>
            <a:ext cx="7884000" cy="284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23520" y="4589280"/>
            <a:ext cx="7884000" cy="149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Mastertextformat bearbeiten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2"/>
          </p:nvPr>
        </p:nvSpPr>
        <p:spPr>
          <a:xfrm>
            <a:off x="62784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3"/>
          </p:nvPr>
        </p:nvSpPr>
        <p:spPr>
          <a:xfrm>
            <a:off x="3028680" y="6356160"/>
            <a:ext cx="308340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4"/>
          </p:nvPr>
        </p:nvSpPr>
        <p:spPr>
          <a:xfrm>
            <a:off x="645768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36C32C7-10FE-4899-A3E7-1143486E31C4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27840" y="364320"/>
            <a:ext cx="788400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27840" y="1825200"/>
            <a:ext cx="3882960" cy="434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28880" y="1825200"/>
            <a:ext cx="3882960" cy="434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5"/>
          </p:nvPr>
        </p:nvSpPr>
        <p:spPr>
          <a:xfrm>
            <a:off x="62784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6"/>
          </p:nvPr>
        </p:nvSpPr>
        <p:spPr>
          <a:xfrm>
            <a:off x="3028680" y="6356160"/>
            <a:ext cx="308340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27"/>
          </p:nvPr>
        </p:nvSpPr>
        <p:spPr>
          <a:xfrm>
            <a:off x="645768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A4CC4E1-E2DA-46D4-A446-C10161EAEEE3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29640" y="364320"/>
            <a:ext cx="788400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29640" y="1680480"/>
            <a:ext cx="3864960" cy="82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9640" y="2504520"/>
            <a:ext cx="3864960" cy="368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28880" y="1680480"/>
            <a:ext cx="3883680" cy="82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4628880" y="2504520"/>
            <a:ext cx="3883680" cy="368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dt" idx="28"/>
          </p:nvPr>
        </p:nvSpPr>
        <p:spPr>
          <a:xfrm>
            <a:off x="62784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7"/>
          <p:cNvSpPr>
            <a:spLocks noGrp="1"/>
          </p:cNvSpPr>
          <p:nvPr>
            <p:ph type="ftr" idx="29"/>
          </p:nvPr>
        </p:nvSpPr>
        <p:spPr>
          <a:xfrm>
            <a:off x="3028680" y="6356160"/>
            <a:ext cx="308340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8"/>
          <p:cNvSpPr>
            <a:spLocks noGrp="1"/>
          </p:cNvSpPr>
          <p:nvPr>
            <p:ph type="sldNum" idx="30"/>
          </p:nvPr>
        </p:nvSpPr>
        <p:spPr>
          <a:xfrm>
            <a:off x="645768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ED62623-9072-43D5-832E-F0214756FDAD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27840" y="364320"/>
            <a:ext cx="788400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dt" idx="31"/>
          </p:nvPr>
        </p:nvSpPr>
        <p:spPr>
          <a:xfrm>
            <a:off x="62784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32"/>
          </p:nvPr>
        </p:nvSpPr>
        <p:spPr>
          <a:xfrm>
            <a:off x="3028680" y="6356160"/>
            <a:ext cx="308340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33"/>
          </p:nvPr>
        </p:nvSpPr>
        <p:spPr>
          <a:xfrm>
            <a:off x="645768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451F091-DE4E-4C88-9EE4-688EA23511D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6360" cy="397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 defTabSz="914400">
              <a:lnSpc>
                <a:spcPct val="90000"/>
              </a:lnSpc>
              <a:spcBef>
                <a:spcPts val="1463"/>
              </a:spcBef>
              <a:buClr>
                <a:srgbClr val="000000"/>
              </a:buClr>
              <a:buFont typeface="Arial"/>
              <a:buChar char="•"/>
              <a:defRPr lang="en-US" sz="4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72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52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72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9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72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64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72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9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9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63"/>
              </a:spcBef>
              <a:buClr>
                <a:srgbClr val="000000"/>
              </a:buClr>
              <a:buFont typeface="Arial"/>
              <a:buChar char="•"/>
            </a:pPr>
            <a:r>
              <a:rPr lang="en-US" sz="4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4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72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52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72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9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9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72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64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72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64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9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9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9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9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dt" idx="34"/>
          </p:nvPr>
        </p:nvSpPr>
        <p:spPr>
          <a:xfrm>
            <a:off x="62784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ftr" idx="35"/>
          </p:nvPr>
        </p:nvSpPr>
        <p:spPr>
          <a:xfrm>
            <a:off x="3028680" y="6356160"/>
            <a:ext cx="308340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36"/>
          </p:nvPr>
        </p:nvSpPr>
        <p:spPr>
          <a:xfrm>
            <a:off x="6457680" y="635616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A197F91-B7D7-4DBB-89B7-91FF402DE7C3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6360" cy="114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45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45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US" sz="645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6360" cy="397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 defTabSz="914400">
              <a:lnSpc>
                <a:spcPct val="90000"/>
              </a:lnSpc>
              <a:spcBef>
                <a:spcPts val="1463"/>
              </a:spcBef>
              <a:buClr>
                <a:srgbClr val="000000"/>
              </a:buClr>
              <a:buFont typeface="Arial"/>
              <a:buChar char="•"/>
              <a:defRPr lang="en-US" sz="41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72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52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72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9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72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64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72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9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9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63"/>
              </a:spcBef>
              <a:buClr>
                <a:srgbClr val="000000"/>
              </a:buClr>
              <a:buFont typeface="Arial"/>
              <a:buChar char="•"/>
            </a:pPr>
            <a:r>
              <a:rPr lang="en-US" sz="41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41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72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52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72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9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9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72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264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72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64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9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9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9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9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tif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svg"/><Relationship Id="rId7" Type="http://schemas.openxmlformats.org/officeDocument/2006/relationships/image" Target="../media/image20.tif"/><Relationship Id="rId8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91560" y="1719000"/>
            <a:ext cx="7769160" cy="2384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Sitzung 8: </a:t>
            </a:r>
            <a:br>
              <a:rPr sz="3600"/>
            </a:br>
            <a:r>
              <a:rPr lang="de-DE" sz="30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Die Kluft zwischen Persönlichkeitsmaßen/Psychopathologie und den Neurowissenschafte</a:t>
            </a:r>
            <a:r>
              <a:rPr lang="de-DE" sz="36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n  </a:t>
            </a:r>
            <a:endParaRPr lang="de-DE" sz="3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1148760" y="4235040"/>
            <a:ext cx="6854760" cy="1652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Dr. Philipp Bierwirth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Differentielle Psychologie und  Persönlichkeitsforschung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SoSe 2026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BCB0A73-1FF0-491A-8070-E12326FA4360}" type="slidenum">
              <a:t>1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9D6A0327-2699-4851-B66F-1644F9085493}" type="datetime1">
              <a:rPr lang="en-US"/>
              <a:t>06/09/2026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11720" y="237672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1. Introduction</a:t>
            </a:r>
            <a:endParaRPr lang="de-DE" sz="3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28560" y="901800"/>
            <a:ext cx="7886160" cy="83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Self-reported negative affect and neuroscience</a:t>
            </a:r>
            <a:endParaRPr lang="de-DE" sz="3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dt" idx="40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fld id="{E46C444A-6026-424D-B6DC-F93B01365745}" type="datetime1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06/09/2026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41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CE0B201-729F-4BF3-8EB7-D48AB139E0FE}" type="slidenum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3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Textfeld 4"/>
          <p:cNvSpPr/>
          <p:nvPr/>
        </p:nvSpPr>
        <p:spPr>
          <a:xfrm>
            <a:off x="4372920" y="2836800"/>
            <a:ext cx="457920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ptos"/>
              </a:rPr>
              <a:t>Valid predictors of overall life quality and the development of psychopathology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ptos"/>
              </a:rPr>
              <a:t>Huge interest in the neurobiological foundations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feld 5"/>
          <p:cNvSpPr/>
          <p:nvPr/>
        </p:nvSpPr>
        <p:spPr>
          <a:xfrm>
            <a:off x="703800" y="4956840"/>
            <a:ext cx="78109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ptos"/>
              </a:rPr>
              <a:t>Interindividual differences in experiencing negative affect are reflected by systematic interindividual differences in brain structure and function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feld 6"/>
          <p:cNvSpPr/>
          <p:nvPr/>
        </p:nvSpPr>
        <p:spPr>
          <a:xfrm>
            <a:off x="520200" y="1942920"/>
            <a:ext cx="57337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Negative affect related traits (NARTs)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eschweifte Klammer rechts 2"/>
          <p:cNvSpPr/>
          <p:nvPr/>
        </p:nvSpPr>
        <p:spPr>
          <a:xfrm rot="16200000">
            <a:off x="2338200" y="743760"/>
            <a:ext cx="399240" cy="3668400"/>
          </a:xfrm>
          <a:prstGeom prst="rightBrace">
            <a:avLst>
              <a:gd name="adj1" fmla="val 8333"/>
              <a:gd name="adj2" fmla="val 52881"/>
            </a:avLst>
          </a:prstGeom>
          <a:noFill/>
          <a:ln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"/>
          <p:cNvSpPr/>
          <p:nvPr/>
        </p:nvSpPr>
        <p:spPr>
          <a:xfrm rot="20788800">
            <a:off x="-1030320" y="2725920"/>
            <a:ext cx="6913080" cy="177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Negative Emotionality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36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Trait Anxiety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4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Negative dispositional affect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Harm avoidance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Neuroticism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Negative affectivity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27840" y="934200"/>
            <a:ext cx="7884000" cy="13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2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Gruppenarbeit</a:t>
            </a:r>
            <a:endParaRPr lang="de-DE" sz="3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228600" y="2351520"/>
            <a:ext cx="8457840" cy="43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Sie sind ein Team aus forschenden Diagnostikern und Psychologen, das von einem großen Forschungsinstitut rekrutiert wurde. Bisher verlässt sich das Institut bei der Diagnostik von Trait-Ängstlichkeit und Neurotizismus fast ausschließlich auf Selbstauskunft-Fragebögen (wie den NEO-PI-R oder das STAI). Das Problem: Fragebögen sind anfällig für soziale Erwünschtheit und mangelnde Introspektionsfähigkeit.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Ihre Mission: Das Institut möchte eine neue, objektive und multimodale "Diagnostik-Batterie" entwickeln. Ihre Aufgabe ist es, Ihr bisheriges Wissen über die Neurobiologie und Psychophysiologie zu nutzen, um fundierte biologische und physiologische Marker (Korrelate) vorzuschlagen, die Ängstlichkeit und Neurotizismus messbar machen.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Arbeitsauftrag: Diskutieren Sie in Ihrer Forschungsgruppe (ca. 3-4 Personen) die folgenden Bereiche und entwerfen Sie eine diagnostische Testbatterie.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uppieren 2"/>
          <p:cNvGrpSpPr/>
          <p:nvPr/>
        </p:nvGrpSpPr>
        <p:grpSpPr>
          <a:xfrm>
            <a:off x="1640520" y="2173680"/>
            <a:ext cx="6099480" cy="4104000"/>
            <a:chOff x="1640520" y="2173680"/>
            <a:chExt cx="6099480" cy="4104000"/>
          </a:xfrm>
        </p:grpSpPr>
        <p:pic>
          <p:nvPicPr>
            <p:cNvPr id="93" name="Grafik 6"/>
            <p:cNvPicPr/>
            <p:nvPr/>
          </p:nvPicPr>
          <p:blipFill>
            <a:blip r:embed="rId1">
              <a:alphaModFix amt="35000"/>
            </a:blip>
            <a:srcRect l="0" t="0" r="0" b="61933"/>
            <a:stretch/>
          </p:blipFill>
          <p:spPr>
            <a:xfrm>
              <a:off x="1640520" y="2173680"/>
              <a:ext cx="6099480" cy="4104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4" name="Grafik 8"/>
            <p:cNvPicPr/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  <a:alphaModFix amt="35000"/>
            </a:blip>
            <a:stretch/>
          </p:blipFill>
          <p:spPr>
            <a:xfrm>
              <a:off x="3953880" y="2228400"/>
              <a:ext cx="1458000" cy="14371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28560" y="901800"/>
            <a:ext cx="7886160" cy="83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Neurobiological correlates of NARTs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dt" idx="42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fld id="{B686A31E-E189-4988-BD99-856AA2FF3099}" type="datetime1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06/09/2026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43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44DB2A4-2E4F-4565-A059-B65EB434CBF0}" type="slidenum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5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Textfeld 1"/>
          <p:cNvSpPr/>
          <p:nvPr/>
        </p:nvSpPr>
        <p:spPr>
          <a:xfrm>
            <a:off x="801360" y="1535040"/>
            <a:ext cx="77637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Most promising candidates show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small effect sizes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, are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hard to replicate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, and often depend on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further moderating variables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Grafik 9"/>
          <p:cNvSpPr/>
          <p:nvPr/>
        </p:nvSpPr>
        <p:spPr>
          <a:xfrm>
            <a:off x="3790080" y="4488840"/>
            <a:ext cx="1562760" cy="1497600"/>
          </a:xfrm>
          <a:prstGeom prst="ellipse">
            <a:avLst/>
          </a:prstGeom>
          <a:blipFill rotWithShape="0">
            <a:blip r:embed="rId4"/>
            <a:srcRect/>
            <a:stretch/>
          </a:blipFill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rafik 10" descr="Ein Bild, das Kreis, Grafiken, Cartoon, Kunst enthält.&#10;&#10;Automatisch generierte Beschreibung"/>
          <p:cNvSpPr/>
          <p:nvPr/>
        </p:nvSpPr>
        <p:spPr>
          <a:xfrm>
            <a:off x="1970280" y="2178720"/>
            <a:ext cx="1562760" cy="1562760"/>
          </a:xfrm>
          <a:prstGeom prst="ellipse">
            <a:avLst/>
          </a:prstGeom>
          <a:blipFill rotWithShape="0">
            <a:blip r:embed="rId5"/>
            <a:srcRect/>
            <a:stretch/>
          </a:blipFill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feld 2"/>
          <p:cNvSpPr/>
          <p:nvPr/>
        </p:nvSpPr>
        <p:spPr>
          <a:xfrm>
            <a:off x="-356400" y="2386800"/>
            <a:ext cx="226980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Increased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cognitive control-related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EEG activity  (e.g., FM-⍬, ERN, FRN &amp;  CRN)</a:t>
            </a:r>
            <a:r>
              <a:rPr lang="en-US" sz="1400" b="0" u="none" strike="noStrike" baseline="30000">
                <a:solidFill>
                  <a:srgbClr val="FFFFFF"/>
                </a:solidFill>
                <a:effectLst/>
                <a:uFillTx/>
                <a:latin typeface="Arial"/>
              </a:rPr>
              <a:t>1,2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feld 3"/>
          <p:cNvSpPr/>
          <p:nvPr/>
        </p:nvSpPr>
        <p:spPr>
          <a:xfrm>
            <a:off x="541080" y="4828320"/>
            <a:ext cx="31366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Interindividual differences in the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serotonergic system</a:t>
            </a:r>
            <a:r>
              <a:rPr lang="en-US" sz="1400" b="0" u="none" strike="noStrike" baseline="30000">
                <a:solidFill>
                  <a:srgbClr val="FFFFFF"/>
                </a:solidFill>
                <a:effectLst/>
                <a:uFillTx/>
                <a:latin typeface="Arial"/>
              </a:rPr>
              <a:t> 3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(e.g.,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5-HTTLPR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, serotonergic challenge tests)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Gruppieren 3"/>
          <p:cNvGrpSpPr/>
          <p:nvPr/>
        </p:nvGrpSpPr>
        <p:grpSpPr>
          <a:xfrm>
            <a:off x="5582520" y="2173680"/>
            <a:ext cx="1510920" cy="1517400"/>
            <a:chOff x="5582520" y="2173680"/>
            <a:chExt cx="1510920" cy="1517400"/>
          </a:xfrm>
        </p:grpSpPr>
        <p:sp>
          <p:nvSpPr>
            <p:cNvPr id="104" name="Grafik 11"/>
            <p:cNvSpPr/>
            <p:nvPr/>
          </p:nvSpPr>
          <p:spPr>
            <a:xfrm>
              <a:off x="5582520" y="2173680"/>
              <a:ext cx="1510920" cy="1517400"/>
            </a:xfrm>
            <a:prstGeom prst="ellipse">
              <a:avLst/>
            </a:prstGeom>
            <a:blipFill rotWithShape="0">
              <a:blip r:embed="rId6"/>
              <a:srcRect/>
              <a:stretch/>
            </a:blipFill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5" name="Grafik 12"/>
            <p:cNvPicPr/>
            <p:nvPr/>
          </p:nvPicPr>
          <p:blipFill>
            <a:blip r:embed="rId7"/>
            <a:stretch/>
          </p:blipFill>
          <p:spPr>
            <a:xfrm rot="526800">
              <a:off x="5754240" y="2284560"/>
              <a:ext cx="1167840" cy="1258200"/>
            </a:xfrm>
            <a:prstGeom prst="rect">
              <a:avLst/>
            </a:prstGeom>
            <a:noFill/>
            <a:ln w="28575">
              <a:noFill/>
            </a:ln>
          </p:spPr>
        </p:pic>
      </p:grpSp>
      <p:sp>
        <p:nvSpPr>
          <p:cNvPr id="106" name="Textfeld 11"/>
          <p:cNvSpPr/>
          <p:nvPr/>
        </p:nvSpPr>
        <p:spPr>
          <a:xfrm>
            <a:off x="5856840" y="2508120"/>
            <a:ext cx="38793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457200"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Threat reactivity</a:t>
            </a:r>
            <a:r>
              <a:rPr lang="en-US" sz="1400" b="0" u="none" strike="noStrike" baseline="30000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(e.g., heightened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amygdala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reactivity)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feld 12"/>
          <p:cNvSpPr/>
          <p:nvPr/>
        </p:nvSpPr>
        <p:spPr>
          <a:xfrm rot="243600">
            <a:off x="2126520" y="3829680"/>
            <a:ext cx="5128200" cy="638280"/>
          </a:xfrm>
          <a:prstGeom prst="rect">
            <a:avLst/>
          </a:prstGeom>
          <a:solidFill>
            <a:srgbClr val="203864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Reasons for the chasm between self-reported NARTs and neurobiological variables?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feld 13"/>
          <p:cNvSpPr/>
          <p:nvPr/>
        </p:nvSpPr>
        <p:spPr>
          <a:xfrm>
            <a:off x="1871280" y="6449760"/>
            <a:ext cx="51397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800" b="0" u="none" strike="noStrike" baseline="30000">
                <a:solidFill>
                  <a:schemeClr val="lt1"/>
                </a:solidFill>
                <a:effectLst/>
                <a:uFillTx/>
                <a:latin typeface="Arial"/>
              </a:rPr>
              <a:t>1</a:t>
            </a:r>
            <a:r>
              <a:rPr lang="de-DE" sz="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Cavanagh &amp; Shackman (2015); </a:t>
            </a:r>
            <a:r>
              <a:rPr lang="de-DE" sz="800" b="0" u="none" strike="noStrike" baseline="30000">
                <a:solidFill>
                  <a:schemeClr val="lt1"/>
                </a:solidFill>
                <a:effectLst/>
                <a:uFillTx/>
                <a:latin typeface="Arial"/>
              </a:rPr>
              <a:t>2</a:t>
            </a:r>
            <a:r>
              <a:rPr lang="de-DE" sz="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Saunders &amp; Inzlicht (2020); </a:t>
            </a:r>
            <a:r>
              <a:rPr lang="de-DE" sz="800" b="0" u="none" strike="noStrike" baseline="30000">
                <a:solidFill>
                  <a:schemeClr val="lt1"/>
                </a:solidFill>
                <a:effectLst/>
                <a:uFillTx/>
                <a:latin typeface="Arial"/>
              </a:rPr>
              <a:t>3</a:t>
            </a:r>
            <a:r>
              <a:rPr lang="de-DE" sz="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Wright et al. (2019); </a:t>
            </a:r>
            <a:r>
              <a:rPr lang="de-DE" sz="800" b="0" u="none" strike="noStrike" baseline="30000">
                <a:solidFill>
                  <a:schemeClr val="lt1"/>
                </a:solidFill>
                <a:effectLst/>
                <a:uFillTx/>
                <a:latin typeface="Arial"/>
              </a:rPr>
              <a:t>4</a:t>
            </a:r>
            <a:r>
              <a:rPr lang="de-DE" sz="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Servaas et al. (2013)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" dur="indefinite" restart="never" nodeType="tmRoot">
          <p:childTnLst>
            <p:seq>
              <p:cTn id="18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28560" y="901800"/>
            <a:ext cx="7886160" cy="83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Why is it so hard to link neurobiological variables to NARTs?</a:t>
            </a:r>
            <a:endParaRPr lang="de-DE" sz="3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628560" y="2057400"/>
            <a:ext cx="6472800" cy="411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Reasons that are responsible for the replication crisis (Researchers degrees of freedom, small sample sizes, etc.)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Reasons that might be specific for personality neuroscience</a:t>
            </a:r>
            <a:r>
              <a:rPr lang="en-US" sz="1800" b="0" u="none" strike="noStrike" baseline="30000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: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Measurement of interindividual differences in neurobiological variables and trait variables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 hypothetical relationship between trait and neurobiological variables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dt" idx="44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fld id="{6845AEA0-033A-4413-AA53-577F5E3DD120}" type="datetime1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06/09/2026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sldNum" idx="45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5644601-33BD-4338-B8F5-99D44C318789}" type="slidenum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3" name="Grafik 1"/>
          <p:cNvPicPr/>
          <p:nvPr/>
        </p:nvPicPr>
        <p:blipFill>
          <a:blip r:embed="rId1"/>
          <a:stretch/>
        </p:blipFill>
        <p:spPr>
          <a:xfrm>
            <a:off x="873360" y="3256920"/>
            <a:ext cx="5421240" cy="128952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</p:spPr>
      </p:pic>
      <p:sp>
        <p:nvSpPr>
          <p:cNvPr id="114" name="Textfeld 7"/>
          <p:cNvSpPr/>
          <p:nvPr/>
        </p:nvSpPr>
        <p:spPr>
          <a:xfrm>
            <a:off x="3483360" y="6492960"/>
            <a:ext cx="45792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 baseline="30000">
                <a:solidFill>
                  <a:schemeClr val="lt1"/>
                </a:solidFill>
                <a:effectLst/>
                <a:uFillTx/>
                <a:latin typeface="Arial"/>
              </a:rPr>
              <a:t>1</a:t>
            </a:r>
            <a:r>
              <a:rPr lang="en-US" sz="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Brand &amp; Müller (2021)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feld 8"/>
          <p:cNvSpPr/>
          <p:nvPr/>
        </p:nvSpPr>
        <p:spPr>
          <a:xfrm>
            <a:off x="6458040" y="2932200"/>
            <a:ext cx="457560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1: Neuropsychometrics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2: Size-assumption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3: Trait-scale semantics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4: Trait-hierarchy specification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5: Brain-trait theory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6: Abstraction-Level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7: Contextualized Trait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8: Context Taxonomy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9: Double-gap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10: Coherent reduction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" dur="indefinite" restart="never" nodeType="tmRoot">
          <p:childTnLst>
            <p:seq>
              <p:cTn id="46" dur="indefinite" nodeType="mainSeq">
                <p:childTnLst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11720" y="326808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br>
              <a:rPr sz="800"/>
            </a:br>
            <a:r>
              <a:rPr lang="en-US" sz="1400" b="0" u="none" strike="noStrike">
                <a:solidFill>
                  <a:schemeClr val="lt2"/>
                </a:solidFill>
                <a:effectLst/>
                <a:uFillTx/>
                <a:latin typeface="Arial"/>
              </a:rPr>
              <a:t> </a:t>
            </a:r>
            <a:br>
              <a:rPr sz="1400"/>
            </a:br>
            <a:endParaRPr lang="de-DE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feld 9"/>
          <p:cNvSpPr/>
          <p:nvPr/>
        </p:nvSpPr>
        <p:spPr>
          <a:xfrm>
            <a:off x="1621440" y="2654640"/>
            <a:ext cx="66304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2.  Measurement of interindividual differences in neurobiological and trait variables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28560" y="901800"/>
            <a:ext cx="7886160" cy="83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Reliability of both measures </a:t>
            </a:r>
            <a:endParaRPr lang="de-DE" sz="3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dt" idx="46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fld id="{6F2DBB9B-0575-4333-B797-74DB32E3BB5E}" type="datetime1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06/09/2026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47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DAA7678-D25D-4BAB-9FF4-C43B890F5397}" type="slidenum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Abgerundetes Rechteck 3"/>
          <p:cNvSpPr/>
          <p:nvPr/>
        </p:nvSpPr>
        <p:spPr>
          <a:xfrm>
            <a:off x="1608120" y="3351240"/>
            <a:ext cx="1767240" cy="762120"/>
          </a:xfrm>
          <a:prstGeom prst="roundRect">
            <a:avLst>
              <a:gd name="adj" fmla="val 16667"/>
            </a:avLst>
          </a:prstGeom>
          <a:solidFill>
            <a:srgbClr val="EF8A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Neurobiological variable (x)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2" name="Gekrümmte Verbindung 3"/>
          <p:cNvCxnSpPr>
            <a:stCxn id="121" idx="1"/>
            <a:endCxn id="121" idx="0"/>
          </p:cNvCxnSpPr>
          <p:nvPr/>
        </p:nvCxnSpPr>
        <p:spPr>
          <a:xfrm flipH="1" rot="10800000">
            <a:off x="1607760" y="3350880"/>
            <a:ext cx="884160" cy="381600"/>
          </a:xfrm>
          <a:prstGeom prst="curvedConnector4">
            <a:avLst>
              <a:gd name="adj1" fmla="val -21832"/>
              <a:gd name="adj2" fmla="val 195750"/>
            </a:avLst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</p:cxnSp>
      <p:sp>
        <p:nvSpPr>
          <p:cNvPr id="123" name="Abgerundetes Rechteck 4"/>
          <p:cNvSpPr/>
          <p:nvPr/>
        </p:nvSpPr>
        <p:spPr>
          <a:xfrm>
            <a:off x="5871240" y="3322080"/>
            <a:ext cx="1767240" cy="762120"/>
          </a:xfrm>
          <a:prstGeom prst="roundRect">
            <a:avLst>
              <a:gd name="adj" fmla="val 16667"/>
            </a:avLst>
          </a:prstGeom>
          <a:solidFill>
            <a:srgbClr val="67A9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Trait variable (y)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4" name="Gekrümmte Verbindung 4"/>
          <p:cNvCxnSpPr>
            <a:stCxn id="123" idx="3"/>
            <a:endCxn id="123" idx="0"/>
          </p:cNvCxnSpPr>
          <p:nvPr/>
        </p:nvCxnSpPr>
        <p:spPr>
          <a:xfrm flipH="1" flipV="1">
            <a:off x="6755040" y="3322080"/>
            <a:ext cx="883800" cy="381600"/>
          </a:xfrm>
          <a:prstGeom prst="curvedConnector4">
            <a:avLst>
              <a:gd name="adj1" fmla="val -25998"/>
              <a:gd name="adj2" fmla="val 199433"/>
            </a:avLst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</p:cxnSp>
      <p:sp>
        <p:nvSpPr>
          <p:cNvPr id="125" name="Textfeld 10"/>
          <p:cNvSpPr/>
          <p:nvPr/>
        </p:nvSpPr>
        <p:spPr>
          <a:xfrm>
            <a:off x="6914160" y="2632680"/>
            <a:ext cx="1960200" cy="3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</a:t>
            </a:r>
            <a:r>
              <a:rPr lang="en-US" sz="1400" b="0" u="none" strike="noStrike" baseline="-25000">
                <a:solidFill>
                  <a:srgbClr val="FFFFFF"/>
                </a:solidFill>
                <a:effectLst/>
                <a:uFillTx/>
                <a:latin typeface="Arial"/>
              </a:rPr>
              <a:t>yy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≈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0.75 - 0.95 </a:t>
            </a:r>
            <a:r>
              <a:rPr lang="en-US" sz="1000" b="0" u="none" strike="noStrike" baseline="30000">
                <a:solidFill>
                  <a:srgbClr val="FFFFFF"/>
                </a:solidFill>
                <a:effectLst/>
                <a:uFillTx/>
                <a:latin typeface="Arial"/>
              </a:rPr>
              <a:t>e.g., 6,7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feld 20"/>
          <p:cNvSpPr/>
          <p:nvPr/>
        </p:nvSpPr>
        <p:spPr>
          <a:xfrm rot="19663800">
            <a:off x="1406880" y="2487240"/>
            <a:ext cx="7617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7" name="Gerade Verbindung mit Pfeil 2"/>
          <p:cNvCxnSpPr>
            <a:stCxn id="121" idx="3"/>
            <a:endCxn id="123" idx="1"/>
          </p:cNvCxnSpPr>
          <p:nvPr/>
        </p:nvCxnSpPr>
        <p:spPr>
          <a:xfrm flipV="1">
            <a:off x="3375360" y="3703320"/>
            <a:ext cx="2496240" cy="29520"/>
          </a:xfrm>
          <a:prstGeom prst="straightConnector1">
            <a:avLst/>
          </a:prstGeom>
          <a:ln w="1905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128" name="Textfeld 21"/>
          <p:cNvSpPr/>
          <p:nvPr/>
        </p:nvSpPr>
        <p:spPr>
          <a:xfrm>
            <a:off x="1024200" y="1911600"/>
            <a:ext cx="7052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 reliability of each variable sets an upper limit for the maximum correlation between both variables: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feld 22"/>
          <p:cNvSpPr/>
          <p:nvPr/>
        </p:nvSpPr>
        <p:spPr>
          <a:xfrm>
            <a:off x="2386800" y="3290400"/>
            <a:ext cx="4578480" cy="4269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de-DE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feld 23"/>
          <p:cNvSpPr/>
          <p:nvPr/>
        </p:nvSpPr>
        <p:spPr>
          <a:xfrm rot="19491000">
            <a:off x="1072800" y="2851560"/>
            <a:ext cx="6814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</a:t>
            </a:r>
            <a:r>
              <a:rPr lang="en-US" sz="1800" b="0" u="none" strike="noStrike" baseline="-25000">
                <a:solidFill>
                  <a:srgbClr val="FFFFFF"/>
                </a:solidFill>
                <a:effectLst/>
                <a:uFillTx/>
                <a:latin typeface="Arial"/>
              </a:rPr>
              <a:t>xx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≈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feld 24"/>
          <p:cNvSpPr/>
          <p:nvPr/>
        </p:nvSpPr>
        <p:spPr>
          <a:xfrm>
            <a:off x="407160" y="4424400"/>
            <a:ext cx="8328600" cy="13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Studies from our own lab showed moderate to high (retest-) reliabilities between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</a:t>
            </a:r>
            <a:r>
              <a:rPr lang="en-US" sz="1600" b="1" u="none" strike="noStrike" baseline="-25000">
                <a:solidFill>
                  <a:srgbClr val="FFFFFF"/>
                </a:solidFill>
                <a:effectLst/>
                <a:uFillTx/>
                <a:latin typeface="Arial"/>
              </a:rPr>
              <a:t>xx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= </a:t>
            </a:r>
            <a:r>
              <a:rPr lang="en-US" sz="1600" b="1" u="sng" strike="noStrike">
                <a:solidFill>
                  <a:srgbClr val="FFFFFF"/>
                </a:solidFill>
                <a:effectLst/>
                <a:uFillTx/>
                <a:latin typeface="Arial"/>
              </a:rPr>
              <a:t>0.78 – 0.98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for raw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N1 and P2 amplitudes</a:t>
            </a:r>
            <a:r>
              <a:rPr lang="en-US" sz="1000" b="0" u="none" strike="noStrike" baseline="30000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Other studies also reporting moderate to high reliabilities for raw ERP amplitudes:        ~ </a:t>
            </a:r>
            <a:r>
              <a:rPr lang="en-US" sz="1600" b="1" u="sng" strike="noStrike">
                <a:solidFill>
                  <a:srgbClr val="FFFFFF"/>
                </a:solidFill>
                <a:effectLst/>
                <a:uFillTx/>
                <a:latin typeface="Arial"/>
              </a:rPr>
              <a:t>0.70 - 0.95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(e.g., ERN, FRN, LPP)</a:t>
            </a:r>
            <a:r>
              <a:rPr lang="en-US" sz="1000" b="0" u="none" strike="noStrike" baseline="30000">
                <a:solidFill>
                  <a:srgbClr val="FFFFFF"/>
                </a:solidFill>
                <a:effectLst/>
                <a:uFillTx/>
                <a:latin typeface="Arial"/>
              </a:rPr>
              <a:t>e.g., 3,4,5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feld 25"/>
          <p:cNvSpPr/>
          <p:nvPr/>
        </p:nvSpPr>
        <p:spPr>
          <a:xfrm>
            <a:off x="1667520" y="6431040"/>
            <a:ext cx="59713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800" b="0" u="none" strike="noStrike" baseline="30000">
                <a:solidFill>
                  <a:schemeClr val="lt1"/>
                </a:solidFill>
                <a:effectLst/>
                <a:uFillTx/>
                <a:latin typeface="Arial"/>
              </a:rPr>
              <a:t>1</a:t>
            </a:r>
            <a:r>
              <a:rPr lang="de-DE" sz="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Gerpheide et al., (2024);  </a:t>
            </a:r>
            <a:r>
              <a:rPr lang="de-DE" sz="800" b="0" u="none" strike="noStrike" baseline="30000">
                <a:solidFill>
                  <a:schemeClr val="lt1"/>
                </a:solidFill>
                <a:effectLst/>
                <a:uFillTx/>
                <a:latin typeface="Arial"/>
              </a:rPr>
              <a:t>3</a:t>
            </a:r>
            <a:r>
              <a:rPr lang="de-DE" sz="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Weinberg et al, (2011); </a:t>
            </a:r>
            <a:r>
              <a:rPr lang="de-DE" sz="800" b="0" u="none" strike="noStrike" baseline="30000">
                <a:solidFill>
                  <a:schemeClr val="lt1"/>
                </a:solidFill>
                <a:effectLst/>
                <a:uFillTx/>
                <a:latin typeface="Arial"/>
              </a:rPr>
              <a:t>4</a:t>
            </a:r>
            <a:r>
              <a:rPr lang="de-DE" sz="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Clayson et al. (2021); </a:t>
            </a:r>
            <a:r>
              <a:rPr lang="de-DE" sz="800" b="0" u="none" strike="noStrike" baseline="30000">
                <a:solidFill>
                  <a:schemeClr val="lt1"/>
                </a:solidFill>
                <a:effectLst/>
                <a:uFillTx/>
                <a:latin typeface="Arial"/>
              </a:rPr>
              <a:t>5</a:t>
            </a:r>
            <a:r>
              <a:rPr lang="de-DE" sz="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McGhie et al. (2021); </a:t>
            </a:r>
            <a:r>
              <a:rPr lang="de-DE" sz="800" b="0" u="none" strike="noStrike" baseline="30000">
                <a:solidFill>
                  <a:schemeClr val="lt1"/>
                </a:solidFill>
                <a:effectLst/>
                <a:uFillTx/>
                <a:latin typeface="Arial"/>
              </a:rPr>
              <a:t>6</a:t>
            </a:r>
            <a:r>
              <a:rPr lang="de-DE" sz="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Carver &amp; White et al. (1995), </a:t>
            </a:r>
            <a:r>
              <a:rPr lang="de-DE" sz="800" b="0" u="none" strike="noStrike" baseline="30000">
                <a:solidFill>
                  <a:schemeClr val="lt1"/>
                </a:solidFill>
                <a:effectLst/>
                <a:uFillTx/>
                <a:latin typeface="Arial"/>
              </a:rPr>
              <a:t>7</a:t>
            </a:r>
            <a:r>
              <a:rPr lang="de-DE" sz="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Costa &amp; McCrae (1992) 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7" dur="indefinite" restart="never" nodeType="tmRoot">
          <p:childTnLst>
            <p:seq>
              <p:cTn id="68" dur="indefinite" nodeType="mainSeq">
                <p:childTnLst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28560" y="901800"/>
            <a:ext cx="7886160" cy="83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Reliability of neurobiological variables</a:t>
            </a:r>
            <a:endParaRPr lang="de-DE" sz="3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dt" idx="48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fld id="{B3CAE5AE-2BA5-434F-8987-E7FB52D41444}" type="datetime1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06/09/2026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9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A6680BA-4868-4B4D-9B69-3BC5E4A4C7D0}" type="slidenum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9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36" name="Grafik 2" descr="Ein Bild, das Zeichnung, Entwurf, Kunst, Darstellung enthält.&#10;&#10;Automatisch generierte Beschreibung"/>
          <p:cNvPicPr/>
          <p:nvPr/>
        </p:nvPicPr>
        <p:blipFill>
          <a:blip r:embed="rId1"/>
          <a:srcRect l="0" t="0" r="0" b="60565"/>
          <a:stretch/>
        </p:blipFill>
        <p:spPr>
          <a:xfrm>
            <a:off x="2489760" y="3171600"/>
            <a:ext cx="5842080" cy="242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feld 14"/>
          <p:cNvSpPr/>
          <p:nvPr/>
        </p:nvSpPr>
        <p:spPr>
          <a:xfrm rot="21337200">
            <a:off x="3119760" y="2606760"/>
            <a:ext cx="1556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Skull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thickness</a:t>
            </a:r>
            <a:r>
              <a:rPr lang="en-US" sz="1400" b="0" u="none" strike="noStrike" baseline="30000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feld 15"/>
          <p:cNvSpPr/>
          <p:nvPr/>
        </p:nvSpPr>
        <p:spPr>
          <a:xfrm rot="20499600">
            <a:off x="2528640" y="3201840"/>
            <a:ext cx="1556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Sulcal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anatomy</a:t>
            </a:r>
            <a:r>
              <a:rPr lang="en-US" sz="1400" b="0" u="none" strike="noStrike" baseline="30000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feld 16"/>
          <p:cNvSpPr/>
          <p:nvPr/>
        </p:nvSpPr>
        <p:spPr>
          <a:xfrm>
            <a:off x="722520" y="1645920"/>
            <a:ext cx="7698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Factors that probably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increase reliability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but are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unrelated to the neurocognitive process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of interest: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feld 17"/>
          <p:cNvSpPr/>
          <p:nvPr/>
        </p:nvSpPr>
        <p:spPr>
          <a:xfrm rot="587400">
            <a:off x="4190040" y="2472120"/>
            <a:ext cx="1556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Cortical surface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area recruited</a:t>
            </a:r>
            <a:r>
              <a:rPr lang="en-US" sz="1400" b="0" u="none" strike="noStrike" baseline="30000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feld 18"/>
          <p:cNvSpPr/>
          <p:nvPr/>
        </p:nvSpPr>
        <p:spPr>
          <a:xfrm>
            <a:off x="4039560" y="6481440"/>
            <a:ext cx="185652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 baseline="30000">
                <a:solidFill>
                  <a:schemeClr val="lt1"/>
                </a:solidFill>
                <a:effectLst/>
                <a:uFillTx/>
                <a:latin typeface="Arial"/>
              </a:rPr>
              <a:t>1</a:t>
            </a:r>
            <a:r>
              <a:rPr lang="en-US" sz="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Cohen, 2014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feld 19"/>
          <p:cNvSpPr/>
          <p:nvPr/>
        </p:nvSpPr>
        <p:spPr>
          <a:xfrm rot="498000">
            <a:off x="4753800" y="3201120"/>
            <a:ext cx="1556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Scalp preparation</a:t>
            </a:r>
            <a:r>
              <a:rPr lang="en-US" sz="1400" b="0" u="none" strike="noStrike" baseline="30000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feld 28"/>
          <p:cNvSpPr/>
          <p:nvPr/>
        </p:nvSpPr>
        <p:spPr>
          <a:xfrm>
            <a:off x="628560" y="5655960"/>
            <a:ext cx="7698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Systematic noise increases reliability but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decreases validity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of (neurobiological) measurements.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feld 29"/>
          <p:cNvSpPr/>
          <p:nvPr/>
        </p:nvSpPr>
        <p:spPr>
          <a:xfrm>
            <a:off x="6144480" y="2417400"/>
            <a:ext cx="280080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1" dur="indefinite" restart="never" nodeType="tmRoot">
          <p:childTnLst>
            <p:seq>
              <p:cTn id="102" dur="indefinite" nodeType="mainSeq">
                <p:childTnLst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28560" y="901800"/>
            <a:ext cx="7886160" cy="83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Reliability of neurobiological variables</a:t>
            </a:r>
            <a:endParaRPr lang="de-DE" sz="3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dt" idx="50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fld id="{6BC4414B-6F3C-4719-9DAE-9DDD2D2945BF}" type="datetime1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06/09/2026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51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AD53ABE-DBA5-41B9-9D62-1F2FB26B4F6C}" type="slidenum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10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48" name="Grafik 3" descr="Ein Bild, das Zeichnung, Entwurf, Kunst, Darstellung enthält.&#10;&#10;Automatisch generierte Beschreibung"/>
          <p:cNvPicPr/>
          <p:nvPr/>
        </p:nvPicPr>
        <p:blipFill>
          <a:blip r:embed="rId1"/>
          <a:srcRect l="0" t="0" r="0" b="60565"/>
          <a:stretch/>
        </p:blipFill>
        <p:spPr>
          <a:xfrm>
            <a:off x="2489760" y="3171600"/>
            <a:ext cx="5842080" cy="242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feld 26"/>
          <p:cNvSpPr/>
          <p:nvPr/>
        </p:nvSpPr>
        <p:spPr>
          <a:xfrm rot="21337200">
            <a:off x="3119760" y="2606760"/>
            <a:ext cx="1556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Skull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thickness</a:t>
            </a:r>
            <a:r>
              <a:rPr lang="en-US" sz="1400" b="0" u="none" strike="noStrike" baseline="30000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feld 27"/>
          <p:cNvSpPr/>
          <p:nvPr/>
        </p:nvSpPr>
        <p:spPr>
          <a:xfrm rot="20499600">
            <a:off x="2528640" y="3201840"/>
            <a:ext cx="1556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Sulcal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anatomy</a:t>
            </a:r>
            <a:r>
              <a:rPr lang="en-US" sz="1400" b="0" u="none" strike="noStrike" baseline="30000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feld 36"/>
          <p:cNvSpPr/>
          <p:nvPr/>
        </p:nvSpPr>
        <p:spPr>
          <a:xfrm>
            <a:off x="722520" y="1645920"/>
            <a:ext cx="7698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Factors that probably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increase reliability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,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but are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unrelated to the neurocognitive process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of interest: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feld 37"/>
          <p:cNvSpPr/>
          <p:nvPr/>
        </p:nvSpPr>
        <p:spPr>
          <a:xfrm rot="587400">
            <a:off x="4190040" y="2472120"/>
            <a:ext cx="1556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Cortical surface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area recruited</a:t>
            </a:r>
            <a:r>
              <a:rPr lang="en-US" sz="1400" b="0" u="none" strike="noStrike" baseline="30000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feld 39"/>
          <p:cNvSpPr/>
          <p:nvPr/>
        </p:nvSpPr>
        <p:spPr>
          <a:xfrm>
            <a:off x="4039560" y="6481440"/>
            <a:ext cx="23004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 baseline="30000">
                <a:solidFill>
                  <a:schemeClr val="lt1"/>
                </a:solidFill>
                <a:effectLst/>
                <a:uFillTx/>
                <a:latin typeface="Arial"/>
              </a:rPr>
              <a:t>1</a:t>
            </a:r>
            <a:r>
              <a:rPr lang="en-US" sz="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Cohen, 2014; </a:t>
            </a:r>
            <a:r>
              <a:rPr lang="en-US" sz="800" b="0" u="none" strike="noStrike" baseline="30000">
                <a:solidFill>
                  <a:schemeClr val="lt1"/>
                </a:solidFill>
                <a:effectLst/>
                <a:uFillTx/>
                <a:latin typeface="Arial"/>
              </a:rPr>
              <a:t>2</a:t>
            </a:r>
            <a:r>
              <a:rPr lang="en-US" sz="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Gerpheide et al. (in prep)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feld 40"/>
          <p:cNvSpPr/>
          <p:nvPr/>
        </p:nvSpPr>
        <p:spPr>
          <a:xfrm rot="498000">
            <a:off x="4753800" y="3201120"/>
            <a:ext cx="1556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Scalp preparation</a:t>
            </a:r>
            <a:r>
              <a:rPr lang="en-US" sz="1400" b="0" u="none" strike="noStrike" baseline="30000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feld 41"/>
          <p:cNvSpPr/>
          <p:nvPr/>
        </p:nvSpPr>
        <p:spPr>
          <a:xfrm>
            <a:off x="628560" y="5655960"/>
            <a:ext cx="7698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Systematic noise increases reliability but 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decreases validity 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of (neurobiological) measurements.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feld 42"/>
          <p:cNvSpPr/>
          <p:nvPr/>
        </p:nvSpPr>
        <p:spPr>
          <a:xfrm>
            <a:off x="6144480" y="2417400"/>
            <a:ext cx="280080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feld 43"/>
          <p:cNvSpPr/>
          <p:nvPr/>
        </p:nvSpPr>
        <p:spPr>
          <a:xfrm>
            <a:off x="4156560" y="2361960"/>
            <a:ext cx="4358160" cy="261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N1 component in a threat of schock paradigm</a:t>
            </a:r>
            <a:r>
              <a:rPr lang="de-DE" sz="1400" b="0" u="none" strike="noStrike" baseline="30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N1</a:t>
            </a:r>
            <a:r>
              <a:rPr lang="de-DE" sz="1400" b="0" u="none" strike="noStrike" baseline="-25000">
                <a:solidFill>
                  <a:srgbClr val="FFFFFF"/>
                </a:solidFill>
                <a:effectLst/>
                <a:uFillTx/>
                <a:latin typeface="Arial"/>
              </a:rPr>
              <a:t>Amplitude</a:t>
            </a: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:    r</a:t>
            </a:r>
            <a:r>
              <a:rPr lang="de-DE" sz="1400" b="0" u="none" strike="noStrike" baseline="-25000">
                <a:solidFill>
                  <a:srgbClr val="FFFFFF"/>
                </a:solidFill>
                <a:effectLst/>
                <a:uFillTx/>
                <a:latin typeface="Arial"/>
              </a:rPr>
              <a:t>xx</a:t>
            </a: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= 0.91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N1</a:t>
            </a:r>
            <a:r>
              <a:rPr lang="de-DE" sz="1400" b="0" u="none" strike="noStrike" baseline="-25000">
                <a:solidFill>
                  <a:srgbClr val="FFFFFF"/>
                </a:solidFill>
                <a:effectLst/>
                <a:uFillTx/>
                <a:latin typeface="Arial"/>
              </a:rPr>
              <a:t>threat-safe</a:t>
            </a: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:   r</a:t>
            </a:r>
            <a:r>
              <a:rPr lang="de-DE" sz="1400" b="0" u="none" strike="noStrike" baseline="-25000">
                <a:solidFill>
                  <a:srgbClr val="FFFFFF"/>
                </a:solidFill>
                <a:effectLst/>
                <a:uFillTx/>
                <a:latin typeface="Arial"/>
              </a:rPr>
              <a:t>xx</a:t>
            </a: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= 0.67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N1</a:t>
            </a:r>
            <a:r>
              <a:rPr lang="de-DE" sz="1400" b="0" u="none" strike="noStrike" baseline="-25000">
                <a:solidFill>
                  <a:srgbClr val="FFFFFF"/>
                </a:solidFill>
                <a:effectLst/>
                <a:uFillTx/>
                <a:latin typeface="Arial"/>
              </a:rPr>
              <a:t>residualized</a:t>
            </a: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: r</a:t>
            </a:r>
            <a:r>
              <a:rPr lang="de-DE" sz="1400" b="0" u="none" strike="noStrike" baseline="-25000">
                <a:solidFill>
                  <a:srgbClr val="FFFFFF"/>
                </a:solidFill>
                <a:effectLst/>
                <a:uFillTx/>
                <a:latin typeface="Arial"/>
              </a:rPr>
              <a:t>xx</a:t>
            </a: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= 0.54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N1</a:t>
            </a:r>
            <a:r>
              <a:rPr lang="de-DE" sz="1400" b="0" u="none" strike="noStrike" baseline="-25000">
                <a:solidFill>
                  <a:srgbClr val="FFFFFF"/>
                </a:solidFill>
                <a:effectLst/>
                <a:uFillTx/>
                <a:latin typeface="Arial"/>
              </a:rPr>
              <a:t>Amplitude</a:t>
            </a: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&amp; Trait Anxiety:    r = -0.07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N1</a:t>
            </a:r>
            <a:r>
              <a:rPr lang="de-DE" sz="1400" b="0" u="none" strike="noStrike" baseline="-25000">
                <a:solidFill>
                  <a:srgbClr val="FFFFFF"/>
                </a:solidFill>
                <a:effectLst/>
                <a:uFillTx/>
                <a:latin typeface="Arial"/>
              </a:rPr>
              <a:t>threat-safe</a:t>
            </a: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&amp; Trait Anxiety:  r = 0.30*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N1</a:t>
            </a:r>
            <a:r>
              <a:rPr lang="de-DE" sz="1400" b="0" u="none" strike="noStrike" baseline="-25000">
                <a:solidFill>
                  <a:srgbClr val="FFFFFF"/>
                </a:solidFill>
                <a:effectLst/>
                <a:uFillTx/>
                <a:latin typeface="Arial"/>
              </a:rPr>
              <a:t>residualized</a:t>
            </a: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&amp; Trait Anxiety: r = 0.34*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9" dur="indefinite" restart="never" nodeType="tmRoot">
          <p:childTnLst>
            <p:seq>
              <p:cTn id="130" dur="indefinite" nodeType="mainSeq"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5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>
                                      <p:cBhvr>
                                        <p:cTn id="134" dur="2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35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>
                                      <p:cBhvr>
                                        <p:cTn id="136" dur="2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35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>
                                      <p:cBhvr>
                                        <p:cTn id="138" dur="2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35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>
                                      <p:cBhvr>
                                        <p:cTn id="140" dur="2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35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>
                                      <p:cBhvr>
                                        <p:cTn id="142" dur="2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dt" idx="52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fld id="{8312B474-E6EF-49CE-AA5E-CEA1E7D5CA99}" type="datetime1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06/09/2026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ldNum" idx="53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808B52E-7875-41D2-9584-B1A20C106DD7}" type="slidenum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10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0" name="Body 2"/>
          <p:cNvPicPr/>
          <p:nvPr/>
        </p:nvPicPr>
        <p:blipFill>
          <a:blip r:embed="rId1"/>
          <a:srcRect l="0" t="0" r="0" b="39144"/>
          <a:stretch/>
        </p:blipFill>
        <p:spPr>
          <a:xfrm>
            <a:off x="2885040" y="3697920"/>
            <a:ext cx="2650320" cy="259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" name="Gehirn 2"/>
          <p:cNvPicPr/>
          <p:nvPr/>
        </p:nvPicPr>
        <p:blipFill>
          <a:blip r:embed="rId2"/>
          <a:stretch/>
        </p:blipFill>
        <p:spPr>
          <a:xfrm>
            <a:off x="3893040" y="3729960"/>
            <a:ext cx="634320" cy="55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Herz 2"/>
          <p:cNvPicPr/>
          <p:nvPr/>
        </p:nvPicPr>
        <p:blipFill>
          <a:blip r:embed="rId3"/>
          <a:stretch/>
        </p:blipFill>
        <p:spPr>
          <a:xfrm>
            <a:off x="4181400" y="5271840"/>
            <a:ext cx="359640" cy="4802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63" name="Gruppieren 1"/>
          <p:cNvGrpSpPr/>
          <p:nvPr/>
        </p:nvGrpSpPr>
        <p:grpSpPr>
          <a:xfrm>
            <a:off x="1153080" y="3174120"/>
            <a:ext cx="1484640" cy="1540800"/>
            <a:chOff x="1153080" y="3174120"/>
            <a:chExt cx="1484640" cy="1540800"/>
          </a:xfrm>
        </p:grpSpPr>
        <p:pic>
          <p:nvPicPr>
            <p:cNvPr id="164" name="Gefahr 2"/>
            <p:cNvPicPr/>
            <p:nvPr/>
          </p:nvPicPr>
          <p:blipFill>
            <a:blip r:embed="rId4"/>
            <a:stretch/>
          </p:blipFill>
          <p:spPr>
            <a:xfrm rot="20458200">
              <a:off x="1527840" y="3482280"/>
              <a:ext cx="802440" cy="900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5" name="Ellipse 2"/>
            <p:cNvSpPr/>
            <p:nvPr/>
          </p:nvSpPr>
          <p:spPr>
            <a:xfrm rot="20064600">
              <a:off x="1386360" y="3441240"/>
              <a:ext cx="1066680" cy="109692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6" name="Textfeld 30"/>
            <p:cNvSpPr txBox="1"/>
            <p:nvPr/>
          </p:nvSpPr>
          <p:spPr>
            <a:xfrm rot="20064600">
              <a:off x="1333080" y="3354120"/>
              <a:ext cx="1079280" cy="1079280"/>
            </a:xfrm>
            <a:prstGeom prst="rect">
              <a:avLst/>
            </a:prstGeom>
          </p:spPr>
          <p:txBody>
            <a:bodyPr wrap="none" lIns="90000" tIns="45000" rIns="90000" bIns="45000" anchor="b">
              <a:prstTxWarp prst="textCircle">
                <a:avLst>
                  <a:gd name="adj" fmla="val 160869"/>
                </a:avLst>
              </a:prstTxWarp>
              <a:noAutofit/>
            </a:bodyPr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ln w="0">
                  <a:noFill/>
                </a:ln>
                <a:solidFill>
                  <a:srgbClr val="000000"/>
                </a:solidFill>
                <a:uFillTx/>
                <a:latin typeface="Arial"/>
              </a:endParaRPr>
            </a:p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ln w="0">
                  <a:noFill/>
                </a:ln>
                <a:solidFill>
                  <a:srgbClr val="000000"/>
                </a:solidFill>
                <a:uFillTx/>
                <a:latin typeface="Arial"/>
              </a:endParaRPr>
            </a:p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ln w="0">
                    <a:noFill/>
                  </a:ln>
                  <a:solidFill>
                    <a:srgbClr val="000000"/>
                  </a:solidFill>
                  <a:uFillTx/>
                  <a:latin typeface="Calibri"/>
                </a:rPr>
                <a:t>                                           Threat  </a:t>
              </a:r>
              <a:endParaRPr lang="en-US" sz="1800" b="0" u="none" strike="noStrike">
                <a:ln w="0">
                  <a:noFill/>
                </a:ln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167" name="Pfeil: nach rechts 2"/>
          <p:cNvSpPr/>
          <p:nvPr/>
        </p:nvSpPr>
        <p:spPr>
          <a:xfrm>
            <a:off x="2568960" y="3732480"/>
            <a:ext cx="1135440" cy="278640"/>
          </a:xfrm>
          <a:prstGeom prst="rightArrow">
            <a:avLst>
              <a:gd name="adj1" fmla="val 30912"/>
              <a:gd name="adj2" fmla="val 75538"/>
            </a:avLst>
          </a:prstGeom>
          <a:solidFill>
            <a:schemeClr val="bg2">
              <a:lumMod val="75000"/>
            </a:schemeClr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8" name="Titel 10"/>
          <p:cNvSpPr/>
          <p:nvPr/>
        </p:nvSpPr>
        <p:spPr>
          <a:xfrm>
            <a:off x="781200" y="1054080"/>
            <a:ext cx="7886160" cy="8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90000"/>
              </a:lnSpc>
            </a:pPr>
            <a:r>
              <a:rPr lang="en-US" sz="3200" b="1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Validity of neurobiological measures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9" name="Grafik 4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10441200">
            <a:off x="4190400" y="3739320"/>
            <a:ext cx="1330560" cy="64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Textfeld 31"/>
          <p:cNvSpPr/>
          <p:nvPr/>
        </p:nvSpPr>
        <p:spPr>
          <a:xfrm>
            <a:off x="557280" y="2188080"/>
            <a:ext cx="79452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Very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robust within-subject effects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of threat/feedback on FM-⍬ and heart rate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But do these variables also capture valid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between-subject variability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" name="Grafik 5" descr="Ein Bild, das Text, Screenshot, Reihe, Sicherheitsnadel enthält.&#10;&#10;Automatisch generierte Beschreibung"/>
          <p:cNvPicPr/>
          <p:nvPr/>
        </p:nvPicPr>
        <p:blipFill>
          <a:blip r:embed="rId7"/>
          <a:stretch/>
        </p:blipFill>
        <p:spPr>
          <a:xfrm>
            <a:off x="5852520" y="3429000"/>
            <a:ext cx="2278800" cy="284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Geschweifte Klammer rechts 1"/>
          <p:cNvSpPr/>
          <p:nvPr/>
        </p:nvSpPr>
        <p:spPr>
          <a:xfrm>
            <a:off x="7570800" y="3946320"/>
            <a:ext cx="471960" cy="138492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feld 32"/>
          <p:cNvSpPr/>
          <p:nvPr/>
        </p:nvSpPr>
        <p:spPr>
          <a:xfrm rot="5400000">
            <a:off x="7621200" y="4335840"/>
            <a:ext cx="138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between-subject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variability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Abgerundetes Rechteck 1"/>
          <p:cNvSpPr/>
          <p:nvPr/>
        </p:nvSpPr>
        <p:spPr>
          <a:xfrm rot="1413600">
            <a:off x="7397640" y="3019320"/>
            <a:ext cx="1586160" cy="601920"/>
          </a:xfrm>
          <a:prstGeom prst="roundRect">
            <a:avLst>
              <a:gd name="adj" fmla="val 16667"/>
            </a:avLst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Size-assumption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problem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dt" idx="54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fld id="{0CAB94C2-9EEE-42B6-A2C5-40051F10B33D}" type="datetime1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06/09/2026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ldNum" idx="55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64ADFBA-7796-4891-B0FF-79392BAE38EC}" type="slidenum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11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Titel 9"/>
          <p:cNvSpPr/>
          <p:nvPr/>
        </p:nvSpPr>
        <p:spPr>
          <a:xfrm>
            <a:off x="781200" y="1054080"/>
            <a:ext cx="7886160" cy="8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algn="ctr" defTabSz="914400">
              <a:lnSpc>
                <a:spcPct val="90000"/>
              </a:lnSpc>
            </a:pPr>
            <a:r>
              <a:rPr lang="en-US" sz="3200" b="1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Validity of neurobiological measures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feld 33"/>
          <p:cNvSpPr/>
          <p:nvPr/>
        </p:nvSpPr>
        <p:spPr>
          <a:xfrm>
            <a:off x="557280" y="1950120"/>
            <a:ext cx="8109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e.g., t</a:t>
            </a: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he size-assumption problem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feld 34"/>
          <p:cNvSpPr/>
          <p:nvPr/>
        </p:nvSpPr>
        <p:spPr>
          <a:xfrm>
            <a:off x="1029240" y="2406600"/>
            <a:ext cx="2650320" cy="22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Example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Baseline heart rate is correlated with the evoked heart response towards external stimuli (e.g., threats)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feld 35"/>
          <p:cNvSpPr/>
          <p:nvPr/>
        </p:nvSpPr>
        <p:spPr>
          <a:xfrm>
            <a:off x="5002560" y="2406600"/>
            <a:ext cx="2909880" cy="277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Resulting problem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Between-subject variability is influenced by physiological differences in the response system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This between-subject noise makes it harder to detect meaningful correlations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81" name="Gerade Verbindung mit Pfeil 1"/>
          <p:cNvCxnSpPr/>
          <p:nvPr/>
        </p:nvCxnSpPr>
        <p:spPr>
          <a:xfrm>
            <a:off x="3680280" y="3238200"/>
            <a:ext cx="1171800" cy="72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sp>
        <p:nvSpPr>
          <p:cNvPr id="182" name="Textfeld 38"/>
          <p:cNvSpPr/>
          <p:nvPr/>
        </p:nvSpPr>
        <p:spPr>
          <a:xfrm>
            <a:off x="781200" y="5295600"/>
            <a:ext cx="71316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Potential solutions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Multivariate assessment of dependent neurobiological variables, e.g., via </a:t>
            </a:r>
            <a:r>
              <a:rPr lang="en-US" sz="1600" b="1" u="sng" strike="noStrike">
                <a:solidFill>
                  <a:srgbClr val="FFFFFF"/>
                </a:solidFill>
                <a:effectLst/>
                <a:uFillTx/>
                <a:latin typeface="Arial"/>
              </a:rPr>
              <a:t>within-subject correlations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or functional connectivity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5" dur="indefinite" restart="never" nodeType="tmRoot">
          <p:childTnLst>
            <p:seq>
              <p:cTn id="146" dur="indefinite" nodeType="mainSeq">
                <p:childTnLst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28560" y="901800"/>
            <a:ext cx="7886160" cy="83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Within-subject correlations to assess Brain-heart coupling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One solution might involve the use of multivariate brain measures like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within-subject correlations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and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functional connectivity</a:t>
            </a:r>
            <a:endParaRPr lang="de-DE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Example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: Cardio-electroencephalographic covariance tracing (CECT, Mueller et al. [2010]) is a multivariate measure that relies on within-subject correlations between single trial cardiac- and EEG-activity to assess functional brain-heart-coupling.</a:t>
            </a:r>
            <a:endParaRPr lang="de-DE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dt" idx="56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fld id="{242A8097-17C0-4DAE-9FBC-64126E902DE3}" type="datetime1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06/09/2026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sldNum" idx="57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297AE0A-3261-48B4-B7D5-45163CCF2EE5}" type="slidenum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13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87" name="Grafik 15" descr="Ein Bild, das Screenshot, Kreis enthält.&#10;&#10;Automatisch generierte Beschreibung"/>
          <p:cNvPicPr/>
          <p:nvPr/>
        </p:nvPicPr>
        <p:blipFill>
          <a:blip r:embed="rId1"/>
          <a:stretch/>
        </p:blipFill>
        <p:spPr>
          <a:xfrm>
            <a:off x="5431680" y="4096440"/>
            <a:ext cx="2308320" cy="192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Grafik 16" descr="Ein Bild, das Screenshot, Text, Rechteck, Quadrat enthält.&#10;&#10;Automatisch generierte Beschreibung"/>
          <p:cNvPicPr/>
          <p:nvPr/>
        </p:nvPicPr>
        <p:blipFill>
          <a:blip r:embed="rId2"/>
          <a:stretch/>
        </p:blipFill>
        <p:spPr>
          <a:xfrm>
            <a:off x="1628280" y="3944160"/>
            <a:ext cx="2999160" cy="223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feld 60"/>
          <p:cNvSpPr/>
          <p:nvPr/>
        </p:nvSpPr>
        <p:spPr>
          <a:xfrm>
            <a:off x="2014200" y="3315960"/>
            <a:ext cx="2220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Predefined time-window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EEG: 250-500 ms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HP: 2-5 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feld 68"/>
          <p:cNvSpPr/>
          <p:nvPr/>
        </p:nvSpPr>
        <p:spPr>
          <a:xfrm>
            <a:off x="5014080" y="3303000"/>
            <a:ext cx="25516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Scalp distribution of the N300H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average p-correlation within the time window 250-500ms (EEG) and  2-5s (HP)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feld 69"/>
          <p:cNvSpPr/>
          <p:nvPr/>
        </p:nvSpPr>
        <p:spPr>
          <a:xfrm>
            <a:off x="1144080" y="3476520"/>
            <a:ext cx="1004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Feedback onset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1" dur="indefinite" restart="never" nodeType="tmRoot">
          <p:childTnLst>
            <p:seq>
              <p:cTn id="162" dur="indefinite" nodeType="mainSeq">
                <p:childTnLst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628560" y="901800"/>
            <a:ext cx="7886160" cy="83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Brain-heart coupling and trait anxiety</a:t>
            </a:r>
            <a:endParaRPr lang="de-DE" sz="3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93" name="Inhaltsplatzhalter 3"/>
          <p:cNvPicPr/>
          <p:nvPr/>
        </p:nvPicPr>
        <p:blipFill>
          <a:blip r:embed="rId1"/>
          <a:stretch/>
        </p:blipFill>
        <p:spPr>
          <a:xfrm>
            <a:off x="1434240" y="2227680"/>
            <a:ext cx="5329440" cy="218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PlaceHolder 2"/>
          <p:cNvSpPr>
            <a:spLocks noGrp="1"/>
          </p:cNvSpPr>
          <p:nvPr>
            <p:ph type="dt" idx="58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fld id="{2E163E7E-39D4-4488-90D7-C604AB46A84C}" type="datetime1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06/09/2026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59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DE56C2E-2B5F-42E1-920B-8772F567004F}" type="slidenum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13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Inhaltsplatzhalter 5"/>
          <p:cNvSpPr/>
          <p:nvPr/>
        </p:nvSpPr>
        <p:spPr>
          <a:xfrm>
            <a:off x="446040" y="4348080"/>
            <a:ext cx="8474040" cy="19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… stronger brain-heart coupling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to negative feedback is associated with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trait anxiety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(Mueller et al., 2013; see Figure above)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…. panic disorder patients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show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elevated brain-heart coupling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(Mueller et al., 2014, Unterschemmann et al., 2024)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Thus, multivariate assessed brain-heart coupling might be a marker for trait and pathological anxiety….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97" name="Gerade Verbindung mit Pfeil 3"/>
          <p:cNvCxnSpPr/>
          <p:nvPr/>
        </p:nvCxnSpPr>
        <p:spPr>
          <a:xfrm flipV="1">
            <a:off x="1337400" y="2462760"/>
            <a:ext cx="720" cy="670680"/>
          </a:xfrm>
          <a:prstGeom prst="straightConnector1">
            <a:avLst/>
          </a:prstGeom>
          <a:ln w="28575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198" name="Gerade Verbindung mit Pfeil 5"/>
          <p:cNvCxnSpPr/>
          <p:nvPr/>
        </p:nvCxnSpPr>
        <p:spPr>
          <a:xfrm>
            <a:off x="1337400" y="3177360"/>
            <a:ext cx="720" cy="646560"/>
          </a:xfrm>
          <a:prstGeom prst="straightConnector1">
            <a:avLst/>
          </a:prstGeom>
          <a:ln w="28575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99" name="Textfeld 49"/>
          <p:cNvSpPr/>
          <p:nvPr/>
        </p:nvSpPr>
        <p:spPr>
          <a:xfrm>
            <a:off x="17640" y="2654280"/>
            <a:ext cx="1535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Lower coupling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feld 50"/>
          <p:cNvSpPr/>
          <p:nvPr/>
        </p:nvSpPr>
        <p:spPr>
          <a:xfrm>
            <a:off x="9000" y="3282480"/>
            <a:ext cx="1535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Higher coupling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feld 51"/>
          <p:cNvSpPr/>
          <p:nvPr/>
        </p:nvSpPr>
        <p:spPr>
          <a:xfrm>
            <a:off x="1553040" y="2149560"/>
            <a:ext cx="824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n=165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feld 52"/>
          <p:cNvSpPr/>
          <p:nvPr/>
        </p:nvSpPr>
        <p:spPr>
          <a:xfrm>
            <a:off x="6035760" y="3812400"/>
            <a:ext cx="8244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 = -.16*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feld 53"/>
          <p:cNvSpPr/>
          <p:nvPr/>
        </p:nvSpPr>
        <p:spPr>
          <a:xfrm>
            <a:off x="564120" y="1728000"/>
            <a:ext cx="7579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Studies using the CECT method showed that…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9" dur="indefinite" restart="never" nodeType="tmRoot">
          <p:childTnLst>
            <p:seq>
              <p:cTn id="180" dur="indefinite" nodeType="mainSeq">
                <p:childTnLst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28560" y="901800"/>
            <a:ext cx="7886160" cy="83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Brain-heart coupling and trait anxiety</a:t>
            </a:r>
            <a:endParaRPr lang="de-DE" sz="3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05" name="Inhaltsplatzhalter 4" descr="Ein Bild, das Screenshot enthält.&#10;&#10;Automatisch generierte Beschreibung"/>
          <p:cNvPicPr/>
          <p:nvPr/>
        </p:nvPicPr>
        <p:blipFill>
          <a:blip r:embed="rId1"/>
          <a:stretch/>
        </p:blipFill>
        <p:spPr>
          <a:xfrm>
            <a:off x="2492280" y="3628800"/>
            <a:ext cx="5152680" cy="232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PlaceHolder 2"/>
          <p:cNvSpPr>
            <a:spLocks noGrp="1"/>
          </p:cNvSpPr>
          <p:nvPr>
            <p:ph type="dt" idx="60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fld id="{E026EF92-6F75-4C5A-9757-C0224B5B32CB}" type="datetime1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06/09/2026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61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8A9B976-4240-43E1-82E6-78EA65350CCD}" type="slidenum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14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Inhaltsplatzhalter 6"/>
          <p:cNvSpPr/>
          <p:nvPr/>
        </p:nvSpPr>
        <p:spPr>
          <a:xfrm>
            <a:off x="334440" y="2048760"/>
            <a:ext cx="8474040" cy="17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…in context of the multilab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CoScience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project</a:t>
            </a:r>
            <a:r>
              <a:rPr lang="en-US" sz="1600" b="0" u="none" strike="noStrike" baseline="30000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, we aimed at replicating the observed association between trait anxiety and brain-heart coupling in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 = 662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subjects. 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Preliminary results showed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 association between the strength of brain-heart coupling and trait anxiety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09" name="Gerade Verbindung mit Pfeil 4"/>
          <p:cNvCxnSpPr/>
          <p:nvPr/>
        </p:nvCxnSpPr>
        <p:spPr>
          <a:xfrm flipV="1">
            <a:off x="2348640" y="3858480"/>
            <a:ext cx="720" cy="671040"/>
          </a:xfrm>
          <a:prstGeom prst="straightConnector1">
            <a:avLst/>
          </a:prstGeom>
          <a:ln w="28575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210" name="Gerade Verbindung mit Pfeil 7"/>
          <p:cNvCxnSpPr/>
          <p:nvPr/>
        </p:nvCxnSpPr>
        <p:spPr>
          <a:xfrm>
            <a:off x="2348640" y="4718160"/>
            <a:ext cx="720" cy="646560"/>
          </a:xfrm>
          <a:prstGeom prst="straightConnector1">
            <a:avLst/>
          </a:prstGeom>
          <a:ln w="28575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11" name="Textfeld 44"/>
          <p:cNvSpPr/>
          <p:nvPr/>
        </p:nvSpPr>
        <p:spPr>
          <a:xfrm>
            <a:off x="901440" y="4027680"/>
            <a:ext cx="1535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Lower coupling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feld 45"/>
          <p:cNvSpPr/>
          <p:nvPr/>
        </p:nvSpPr>
        <p:spPr>
          <a:xfrm>
            <a:off x="920160" y="4842000"/>
            <a:ext cx="1535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Higher coupling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feld 46"/>
          <p:cNvSpPr/>
          <p:nvPr/>
        </p:nvSpPr>
        <p:spPr>
          <a:xfrm>
            <a:off x="7210800" y="6017760"/>
            <a:ext cx="1932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Bierwirth et al. (in prep)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feld 47"/>
          <p:cNvSpPr/>
          <p:nvPr/>
        </p:nvSpPr>
        <p:spPr>
          <a:xfrm>
            <a:off x="3703680" y="6444360"/>
            <a:ext cx="4575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 baseline="30000">
                <a:solidFill>
                  <a:schemeClr val="lt1"/>
                </a:solidFill>
                <a:effectLst/>
                <a:uFillTx/>
                <a:latin typeface="Arial"/>
              </a:rPr>
              <a:t>1</a:t>
            </a: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Paul et al., 2022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7" dur="indefinite" restart="never" nodeType="tmRoot">
          <p:childTnLst>
            <p:seq>
              <p:cTn id="208" dur="indefinite" nodeType="mainSeq">
                <p:childTnLst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719640" y="249984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3. The hypothetical relationship between trait and neurobiological variables</a:t>
            </a:r>
            <a:endParaRPr lang="de-DE" sz="3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28560" y="901800"/>
            <a:ext cx="7886160" cy="83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Abstraction level problem</a:t>
            </a:r>
            <a:endParaRPr lang="de-DE" sz="3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dt" idx="62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fld id="{38496731-B4FB-43C4-96B6-F386AFCEDB80}" type="datetime1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06/09/2026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63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CFDB676-A738-48DE-8B7F-D564F45ACD91}" type="slidenum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15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19" name="Diagramm 3"/>
          <p:cNvGrpSpPr/>
          <p:nvPr/>
        </p:nvGrpSpPr>
        <p:grpSpPr>
          <a:xfrm>
            <a:off x="1439280" y="1720800"/>
            <a:ext cx="3132000" cy="2616480"/>
            <a:chOff x="1439280" y="1720800"/>
            <a:chExt cx="3132000" cy="2616480"/>
          </a:xfrm>
        </p:grpSpPr>
        <p:sp>
          <p:nvSpPr>
            <p:cNvPr id="220" name=""/>
            <p:cNvSpPr/>
            <p:nvPr/>
          </p:nvSpPr>
          <p:spPr>
            <a:xfrm>
              <a:off x="1439280" y="1720800"/>
              <a:ext cx="3132000" cy="261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"/>
            <p:cNvSpPr/>
            <p:nvPr/>
          </p:nvSpPr>
          <p:spPr>
            <a:xfrm>
              <a:off x="2692440" y="1720800"/>
              <a:ext cx="625680" cy="522720"/>
            </a:xfrm>
            <a:prstGeom prst="trapezoid">
              <a:avLst>
                <a:gd name="adj" fmla="val 59852"/>
              </a:avLst>
            </a:prstGeom>
            <a:solidFill>
              <a:srgbClr val="045A8D"/>
            </a:solidFill>
            <a:ln>
              <a:solidFill>
                <a:srgbClr val="FFFFFF"/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-183240" tIns="-149040" rIns="-183240" bIns="-149040" anchor="ctr">
              <a:noAutofit/>
            </a:bodyPr>
            <a:p>
              <a:endPara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22" name=""/>
            <p:cNvSpPr/>
            <p:nvPr/>
          </p:nvSpPr>
          <p:spPr>
            <a:xfrm>
              <a:off x="2379240" y="2244240"/>
              <a:ext cx="1252440" cy="522720"/>
            </a:xfrm>
            <a:prstGeom prst="trapezoid">
              <a:avLst>
                <a:gd name="adj" fmla="val 59852"/>
              </a:avLst>
            </a:prstGeom>
            <a:solidFill>
              <a:srgbClr val="0370B0"/>
            </a:solidFill>
            <a:ln>
              <a:solidFill>
                <a:srgbClr val="FFFFFF"/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49680" tIns="-47880" rIns="49680" bIns="-47880" anchor="ctr">
              <a:noAutofit/>
            </a:bodyPr>
            <a:p>
              <a:endParaRPr lang="en-US" sz="31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23" name=""/>
            <p:cNvSpPr/>
            <p:nvPr/>
          </p:nvSpPr>
          <p:spPr>
            <a:xfrm>
              <a:off x="2065680" y="2767680"/>
              <a:ext cx="1878840" cy="522720"/>
            </a:xfrm>
            <a:prstGeom prst="trapezoid">
              <a:avLst>
                <a:gd name="adj" fmla="val 59852"/>
              </a:avLst>
            </a:prstGeom>
            <a:solidFill>
              <a:srgbClr val="3690C1"/>
            </a:solidFill>
            <a:ln>
              <a:solidFill>
                <a:srgbClr val="FFFFFF"/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159480" tIns="-19080" rIns="159480" bIns="-19080" anchor="ctr">
              <a:noAutofit/>
            </a:bodyPr>
            <a:p>
              <a:endParaRPr lang="en-US" sz="31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24" name=""/>
            <p:cNvSpPr/>
            <p:nvPr/>
          </p:nvSpPr>
          <p:spPr>
            <a:xfrm>
              <a:off x="1752480" y="3291120"/>
              <a:ext cx="2505600" cy="522720"/>
            </a:xfrm>
            <a:prstGeom prst="trapezoid">
              <a:avLst>
                <a:gd name="adj" fmla="val 59852"/>
              </a:avLst>
            </a:prstGeom>
            <a:solidFill>
              <a:srgbClr val="A6BDDB"/>
            </a:solidFill>
            <a:ln>
              <a:solidFill>
                <a:srgbClr val="FFFFFF"/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268920" tIns="-4320" rIns="268920" bIns="-4320" anchor="ctr">
              <a:noAutofit/>
            </a:bodyPr>
            <a:p>
              <a:endParaRPr lang="en-US" sz="31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25" name=""/>
            <p:cNvSpPr/>
            <p:nvPr/>
          </p:nvSpPr>
          <p:spPr>
            <a:xfrm>
              <a:off x="1439280" y="3814560"/>
              <a:ext cx="3132000" cy="522720"/>
            </a:xfrm>
            <a:prstGeom prst="trapezoid">
              <a:avLst>
                <a:gd name="adj" fmla="val 59852"/>
              </a:avLst>
            </a:prstGeom>
            <a:solidFill>
              <a:srgbClr val="D0D1E6"/>
            </a:solidFill>
            <a:ln>
              <a:solidFill>
                <a:srgbClr val="FFFFFF"/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378720" tIns="4320" rIns="378720" bIns="4320" anchor="ctr">
              <a:noAutofit/>
            </a:bodyPr>
            <a:p>
              <a:endParaRPr lang="en-US" sz="31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226" name="Diagramm 4"/>
          <p:cNvGrpSpPr/>
          <p:nvPr/>
        </p:nvGrpSpPr>
        <p:grpSpPr>
          <a:xfrm>
            <a:off x="4572000" y="1720800"/>
            <a:ext cx="3132000" cy="2616480"/>
            <a:chOff x="4572000" y="1720800"/>
            <a:chExt cx="3132000" cy="2616480"/>
          </a:xfrm>
        </p:grpSpPr>
        <p:sp>
          <p:nvSpPr>
            <p:cNvPr id="227" name=""/>
            <p:cNvSpPr/>
            <p:nvPr/>
          </p:nvSpPr>
          <p:spPr>
            <a:xfrm>
              <a:off x="4572000" y="1720800"/>
              <a:ext cx="3132000" cy="261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"/>
            <p:cNvSpPr/>
            <p:nvPr/>
          </p:nvSpPr>
          <p:spPr>
            <a:xfrm>
              <a:off x="5825160" y="1720800"/>
              <a:ext cx="625680" cy="522720"/>
            </a:xfrm>
            <a:prstGeom prst="trapezoid">
              <a:avLst>
                <a:gd name="adj" fmla="val 59852"/>
              </a:avLst>
            </a:prstGeom>
            <a:solidFill>
              <a:srgbClr val="045A8D"/>
            </a:solidFill>
            <a:ln>
              <a:solidFill>
                <a:srgbClr val="FFFFFF"/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-183240" tIns="-149040" rIns="-183240" bIns="-149040" anchor="ctr">
              <a:noAutofit/>
            </a:bodyPr>
            <a:p>
              <a:endPara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29" name=""/>
            <p:cNvSpPr/>
            <p:nvPr/>
          </p:nvSpPr>
          <p:spPr>
            <a:xfrm>
              <a:off x="5511960" y="2244240"/>
              <a:ext cx="1252440" cy="522720"/>
            </a:xfrm>
            <a:prstGeom prst="trapezoid">
              <a:avLst>
                <a:gd name="adj" fmla="val 59852"/>
              </a:avLst>
            </a:prstGeom>
            <a:solidFill>
              <a:srgbClr val="0370B0"/>
            </a:solidFill>
            <a:ln>
              <a:solidFill>
                <a:srgbClr val="FFFFFF"/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49680" tIns="-47880" rIns="49680" bIns="-47880" anchor="ctr">
              <a:noAutofit/>
            </a:bodyPr>
            <a:p>
              <a:endParaRPr lang="en-US" sz="31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0" name=""/>
            <p:cNvSpPr/>
            <p:nvPr/>
          </p:nvSpPr>
          <p:spPr>
            <a:xfrm>
              <a:off x="5198400" y="2767680"/>
              <a:ext cx="1878840" cy="522720"/>
            </a:xfrm>
            <a:prstGeom prst="trapezoid">
              <a:avLst>
                <a:gd name="adj" fmla="val 59852"/>
              </a:avLst>
            </a:prstGeom>
            <a:solidFill>
              <a:srgbClr val="3690C1"/>
            </a:solidFill>
            <a:ln>
              <a:solidFill>
                <a:srgbClr val="FFFFFF"/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159480" tIns="-19080" rIns="159480" bIns="-19080" anchor="ctr">
              <a:noAutofit/>
            </a:bodyPr>
            <a:p>
              <a:endParaRPr lang="en-US" sz="31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1" name=""/>
            <p:cNvSpPr/>
            <p:nvPr/>
          </p:nvSpPr>
          <p:spPr>
            <a:xfrm>
              <a:off x="4885200" y="3291120"/>
              <a:ext cx="2505600" cy="522720"/>
            </a:xfrm>
            <a:prstGeom prst="trapezoid">
              <a:avLst>
                <a:gd name="adj" fmla="val 59852"/>
              </a:avLst>
            </a:prstGeom>
            <a:solidFill>
              <a:srgbClr val="A6BDDB"/>
            </a:solidFill>
            <a:ln>
              <a:solidFill>
                <a:srgbClr val="FFFFFF"/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268920" tIns="-4320" rIns="268920" bIns="-4320" anchor="ctr">
              <a:noAutofit/>
            </a:bodyPr>
            <a:p>
              <a:endParaRPr lang="en-US" sz="31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2" name=""/>
            <p:cNvSpPr/>
            <p:nvPr/>
          </p:nvSpPr>
          <p:spPr>
            <a:xfrm>
              <a:off x="4572000" y="3814560"/>
              <a:ext cx="3132000" cy="522720"/>
            </a:xfrm>
            <a:prstGeom prst="trapezoid">
              <a:avLst>
                <a:gd name="adj" fmla="val 59852"/>
              </a:avLst>
            </a:prstGeom>
            <a:solidFill>
              <a:srgbClr val="D0D1E6"/>
            </a:solidFill>
            <a:ln>
              <a:solidFill>
                <a:srgbClr val="FFFFFF"/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378720" tIns="4320" rIns="378720" bIns="4320" anchor="ctr">
              <a:noAutofit/>
            </a:bodyPr>
            <a:p>
              <a:endParaRPr lang="en-US" sz="31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cxnSp>
        <p:nvCxnSpPr>
          <p:cNvPr id="233" name="Gerade Verbindung mit Pfeil 6"/>
          <p:cNvCxnSpPr/>
          <p:nvPr/>
        </p:nvCxnSpPr>
        <p:spPr>
          <a:xfrm flipV="1">
            <a:off x="4572000" y="1720440"/>
            <a:ext cx="720" cy="2617920"/>
          </a:xfrm>
          <a:prstGeom prst="straightConnector1">
            <a:avLst/>
          </a:prstGeom>
          <a:ln w="28575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234" name="Textfeld 48"/>
          <p:cNvSpPr/>
          <p:nvPr/>
        </p:nvSpPr>
        <p:spPr>
          <a:xfrm rot="16200000">
            <a:off x="3730680" y="3075120"/>
            <a:ext cx="1401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Abstraction level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feld 61"/>
          <p:cNvSpPr/>
          <p:nvPr/>
        </p:nvSpPr>
        <p:spPr>
          <a:xfrm>
            <a:off x="7507080" y="3853800"/>
            <a:ext cx="1270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Context specific behavior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feld 62"/>
          <p:cNvSpPr/>
          <p:nvPr/>
        </p:nvSpPr>
        <p:spPr>
          <a:xfrm>
            <a:off x="525240" y="3876120"/>
            <a:ext cx="993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Single trial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FM-theta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feld 63"/>
          <p:cNvSpPr/>
          <p:nvPr/>
        </p:nvSpPr>
        <p:spPr>
          <a:xfrm>
            <a:off x="1022400" y="2787840"/>
            <a:ext cx="1270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FM-theta in a given task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feld 64"/>
          <p:cNvSpPr/>
          <p:nvPr/>
        </p:nvSpPr>
        <p:spPr>
          <a:xfrm>
            <a:off x="1457640" y="1857960"/>
            <a:ext cx="1270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FM-theta power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feld 65"/>
          <p:cNvSpPr/>
          <p:nvPr/>
        </p:nvSpPr>
        <p:spPr>
          <a:xfrm>
            <a:off x="6879960" y="2781360"/>
            <a:ext cx="1270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Facet of Neuroticism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feld 66"/>
          <p:cNvSpPr/>
          <p:nvPr/>
        </p:nvSpPr>
        <p:spPr>
          <a:xfrm>
            <a:off x="6433560" y="1867320"/>
            <a:ext cx="1270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Neuroticism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41" name="Gerade Verbindung mit Pfeil 10"/>
          <p:cNvCxnSpPr/>
          <p:nvPr/>
        </p:nvCxnSpPr>
        <p:spPr>
          <a:xfrm flipV="1">
            <a:off x="3005280" y="2038680"/>
            <a:ext cx="3133800" cy="991080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round/>
            <a:headEnd len="med" type="triangle" w="med"/>
            <a:tailEnd len="med" type="triangle" w="med"/>
          </a:ln>
        </p:spPr>
      </p:cxnSp>
      <p:cxnSp>
        <p:nvCxnSpPr>
          <p:cNvPr id="242" name="Gerade Verbindung mit Pfeil 12"/>
          <p:cNvCxnSpPr/>
          <p:nvPr/>
        </p:nvCxnSpPr>
        <p:spPr>
          <a:xfrm flipV="1">
            <a:off x="3228480" y="3017160"/>
            <a:ext cx="2647440" cy="24480"/>
          </a:xfrm>
          <a:prstGeom prst="straightConnector1">
            <a:avLst/>
          </a:prstGeom>
          <a:ln w="28575">
            <a:solidFill>
              <a:srgbClr val="00B050"/>
            </a:solidFill>
            <a:prstDash val="dash"/>
            <a:round/>
            <a:headEnd len="med" type="triangle" w="med"/>
            <a:tailEnd len="med" type="triangle" w="med"/>
          </a:ln>
        </p:spPr>
      </p:cxnSp>
      <p:sp>
        <p:nvSpPr>
          <p:cNvPr id="243" name="Textfeld 67"/>
          <p:cNvSpPr/>
          <p:nvPr/>
        </p:nvSpPr>
        <p:spPr>
          <a:xfrm>
            <a:off x="628560" y="4755960"/>
            <a:ext cx="828180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Potential solutions: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B05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Attempting to match abstraction level (e.g., threat-evoked theta power during fear conditioning and the neuroticsim facet fearfulness)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Aggregating neurobiological variables over different tasks to get a higher abstraction level (also reduces task specific noise)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44" name="Gerade Verbindung mit Pfeil 13"/>
          <p:cNvCxnSpPr/>
          <p:nvPr/>
        </p:nvCxnSpPr>
        <p:spPr>
          <a:xfrm flipV="1">
            <a:off x="3241080" y="2061360"/>
            <a:ext cx="2647440" cy="24840"/>
          </a:xfrm>
          <a:prstGeom prst="straightConnector1">
            <a:avLst/>
          </a:prstGeom>
          <a:ln w="28575">
            <a:solidFill>
              <a:srgbClr val="00B050"/>
            </a:solidFill>
            <a:prstDash val="dash"/>
            <a:round/>
            <a:headEnd len="med" type="triangle" w="med"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3" dur="indefinite" restart="never" nodeType="tmRoot">
          <p:childTnLst>
            <p:seq>
              <p:cTn id="224" dur="indefinite" nodeType="mainSeq">
                <p:childTnLst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28560" y="901800"/>
            <a:ext cx="7886160" cy="83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The double-gap problem</a:t>
            </a:r>
            <a:endParaRPr lang="de-DE" sz="3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dt" idx="64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fld id="{CF48867C-B2E9-4A1B-BB68-5B27F8F21ECF}" type="datetime1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06/09/2026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65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A7E9C56-0325-436C-BB18-DAA77084C750}" type="slidenum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Abgerundetes Rechteck 6"/>
          <p:cNvSpPr/>
          <p:nvPr/>
        </p:nvSpPr>
        <p:spPr>
          <a:xfrm>
            <a:off x="1499040" y="2643480"/>
            <a:ext cx="1767240" cy="762120"/>
          </a:xfrm>
          <a:prstGeom prst="roundRect">
            <a:avLst>
              <a:gd name="adj" fmla="val 16667"/>
            </a:avLst>
          </a:prstGeom>
          <a:solidFill>
            <a:srgbClr val="EF8A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Neurobiological variable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Abgerundetes Rechteck 8"/>
          <p:cNvSpPr/>
          <p:nvPr/>
        </p:nvSpPr>
        <p:spPr>
          <a:xfrm>
            <a:off x="5762160" y="2613960"/>
            <a:ext cx="1767240" cy="762120"/>
          </a:xfrm>
          <a:prstGeom prst="roundRect">
            <a:avLst>
              <a:gd name="adj" fmla="val 16667"/>
            </a:avLst>
          </a:prstGeom>
          <a:solidFill>
            <a:srgbClr val="67A9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Trait variable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Abgerundetes Rechteck 9"/>
          <p:cNvSpPr/>
          <p:nvPr/>
        </p:nvSpPr>
        <p:spPr>
          <a:xfrm>
            <a:off x="3630960" y="4341960"/>
            <a:ext cx="1767240" cy="762120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Neurocognitive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process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51" name="Gerade Verbindung mit Pfeil 14"/>
          <p:cNvCxnSpPr>
            <a:stCxn id="248" idx="2"/>
            <a:endCxn id="250" idx="1"/>
          </p:cNvCxnSpPr>
          <p:nvPr/>
        </p:nvCxnSpPr>
        <p:spPr>
          <a:xfrm>
            <a:off x="2382840" y="3405600"/>
            <a:ext cx="1248480" cy="1317960"/>
          </a:xfrm>
          <a:prstGeom prst="straightConnector1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</p:cxnSp>
      <p:cxnSp>
        <p:nvCxnSpPr>
          <p:cNvPr id="252" name="Gerade Verbindung mit Pfeil 15"/>
          <p:cNvCxnSpPr>
            <a:stCxn id="249" idx="2"/>
            <a:endCxn id="250" idx="3"/>
          </p:cNvCxnSpPr>
          <p:nvPr/>
        </p:nvCxnSpPr>
        <p:spPr>
          <a:xfrm flipH="1">
            <a:off x="5398200" y="3376080"/>
            <a:ext cx="1248120" cy="1347480"/>
          </a:xfrm>
          <a:prstGeom prst="straightConnector1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</p:cxnSp>
      <p:sp>
        <p:nvSpPr>
          <p:cNvPr id="253" name="Textfeld 70"/>
          <p:cNvSpPr/>
          <p:nvPr/>
        </p:nvSpPr>
        <p:spPr>
          <a:xfrm rot="2808000">
            <a:off x="2828160" y="3866040"/>
            <a:ext cx="777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(1) ?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54" name="Gerade Verbindung mit Pfeil 16"/>
          <p:cNvCxnSpPr/>
          <p:nvPr/>
        </p:nvCxnSpPr>
        <p:spPr>
          <a:xfrm flipV="1">
            <a:off x="3252240" y="2984040"/>
            <a:ext cx="2495880" cy="29880"/>
          </a:xfrm>
          <a:prstGeom prst="straightConnector1">
            <a:avLst/>
          </a:prstGeom>
          <a:ln w="1905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255" name="Textfeld 71"/>
          <p:cNvSpPr/>
          <p:nvPr/>
        </p:nvSpPr>
        <p:spPr>
          <a:xfrm rot="18848400">
            <a:off x="5631120" y="3666960"/>
            <a:ext cx="777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(2) ?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feld 72"/>
          <p:cNvSpPr/>
          <p:nvPr/>
        </p:nvSpPr>
        <p:spPr>
          <a:xfrm>
            <a:off x="1383480" y="1664280"/>
            <a:ext cx="62323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Neurobiological personality research needs to fill two gaps: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 defTabSz="4572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Neurobiological variable – Neurocognitive process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 defTabSz="45720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Trait variable – Neurocognitive process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feld 73"/>
          <p:cNvSpPr/>
          <p:nvPr/>
        </p:nvSpPr>
        <p:spPr>
          <a:xfrm>
            <a:off x="1398240" y="5419800"/>
            <a:ext cx="62323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Potential solution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: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Investigating one gap at a time to reduce uncertainties about the association between each variable and the neurocognitive process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feld 74"/>
          <p:cNvSpPr/>
          <p:nvPr/>
        </p:nvSpPr>
        <p:spPr>
          <a:xfrm>
            <a:off x="3616920" y="3978720"/>
            <a:ext cx="1739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Threat sensitivity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feld 75"/>
          <p:cNvSpPr/>
          <p:nvPr/>
        </p:nvSpPr>
        <p:spPr>
          <a:xfrm>
            <a:off x="430200" y="2548440"/>
            <a:ext cx="113652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FM-⍬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or amygdala reactivity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feld 76"/>
          <p:cNvSpPr/>
          <p:nvPr/>
        </p:nvSpPr>
        <p:spPr>
          <a:xfrm>
            <a:off x="7527960" y="2814840"/>
            <a:ext cx="1136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de-DE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Neuroticism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711720" y="2376720"/>
            <a:ext cx="788616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4. Summary</a:t>
            </a:r>
            <a:endParaRPr lang="de-DE" sz="3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28560" y="901800"/>
            <a:ext cx="7886160" cy="83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FF9424"/>
                </a:solidFill>
                <a:effectLst/>
                <a:uFillTx/>
                <a:latin typeface="Arial"/>
              </a:rPr>
              <a:t>Summary</a:t>
            </a:r>
            <a:endParaRPr lang="de-DE" sz="3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dt" idx="66"/>
          </p:nvPr>
        </p:nvSpPr>
        <p:spPr>
          <a:xfrm>
            <a:off x="62856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fld id="{5F6BCA45-B158-4541-B652-EB1B910F6388}" type="datetime1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06/09/2026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67"/>
          </p:nvPr>
        </p:nvSpPr>
        <p:spPr>
          <a:xfrm>
            <a:off x="6458040" y="6356520"/>
            <a:ext cx="2056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4E30659-1A0E-4451-A0C4-819D2135D4E0}" type="slidenum">
              <a:rPr lang="en-US" sz="1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Abgerundetes Rechteck 5"/>
          <p:cNvSpPr/>
          <p:nvPr/>
        </p:nvSpPr>
        <p:spPr>
          <a:xfrm>
            <a:off x="1483200" y="3440880"/>
            <a:ext cx="1767240" cy="762120"/>
          </a:xfrm>
          <a:prstGeom prst="roundRect">
            <a:avLst>
              <a:gd name="adj" fmla="val 16667"/>
            </a:avLst>
          </a:prstGeom>
          <a:solidFill>
            <a:srgbClr val="EF8A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Neurobiological variable (x)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6" name="Gekrümmte Verbindung 1"/>
          <p:cNvCxnSpPr>
            <a:stCxn id="265" idx="1"/>
            <a:endCxn id="265" idx="0"/>
          </p:cNvCxnSpPr>
          <p:nvPr/>
        </p:nvCxnSpPr>
        <p:spPr>
          <a:xfrm flipH="1" rot="10800000">
            <a:off x="1482840" y="3440520"/>
            <a:ext cx="884160" cy="381600"/>
          </a:xfrm>
          <a:prstGeom prst="curvedConnector4">
            <a:avLst>
              <a:gd name="adj1" fmla="val -21873"/>
              <a:gd name="adj2" fmla="val 195750"/>
            </a:avLst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</p:cxnSp>
      <p:sp>
        <p:nvSpPr>
          <p:cNvPr id="267" name="Abgerundetes Rechteck 7"/>
          <p:cNvSpPr/>
          <p:nvPr/>
        </p:nvSpPr>
        <p:spPr>
          <a:xfrm>
            <a:off x="5745960" y="3411360"/>
            <a:ext cx="1767240" cy="762120"/>
          </a:xfrm>
          <a:prstGeom prst="roundRect">
            <a:avLst>
              <a:gd name="adj" fmla="val 16667"/>
            </a:avLst>
          </a:prstGeom>
          <a:solidFill>
            <a:srgbClr val="67A9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Trait variable (y)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8" name="Gekrümmte Verbindung 2"/>
          <p:cNvCxnSpPr>
            <a:stCxn id="267" idx="3"/>
            <a:endCxn id="267" idx="0"/>
          </p:cNvCxnSpPr>
          <p:nvPr/>
        </p:nvCxnSpPr>
        <p:spPr>
          <a:xfrm flipH="1" flipV="1">
            <a:off x="6629760" y="3411360"/>
            <a:ext cx="883800" cy="381600"/>
          </a:xfrm>
          <a:prstGeom prst="curvedConnector4">
            <a:avLst>
              <a:gd name="adj1" fmla="val -26039"/>
              <a:gd name="adj2" fmla="val 199338"/>
            </a:avLst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</p:cxnSp>
      <p:sp>
        <p:nvSpPr>
          <p:cNvPr id="269" name="Textfeld 54"/>
          <p:cNvSpPr/>
          <p:nvPr/>
        </p:nvSpPr>
        <p:spPr>
          <a:xfrm>
            <a:off x="6789240" y="2722320"/>
            <a:ext cx="1725480" cy="3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(A) r</a:t>
            </a:r>
            <a:r>
              <a:rPr lang="en-US" sz="1400" b="0" u="none" strike="noStrike" baseline="-25000">
                <a:solidFill>
                  <a:srgbClr val="FFFFFF"/>
                </a:solidFill>
                <a:effectLst/>
                <a:uFillTx/>
                <a:latin typeface="Arial"/>
              </a:rPr>
              <a:t>yy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≈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0.80 - 0.95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feld 55"/>
          <p:cNvSpPr/>
          <p:nvPr/>
        </p:nvSpPr>
        <p:spPr>
          <a:xfrm>
            <a:off x="994320" y="2792520"/>
            <a:ext cx="1725480" cy="3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(A) r</a:t>
            </a:r>
            <a:r>
              <a:rPr lang="en-US" sz="1400" b="0" u="none" strike="noStrike" baseline="-25000">
                <a:solidFill>
                  <a:srgbClr val="FFFFFF"/>
                </a:solidFill>
                <a:effectLst/>
                <a:uFillTx/>
                <a:latin typeface="Arial"/>
              </a:rPr>
              <a:t>xx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≈ 0.75-0.95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71" name="Gerade Verbindung mit Pfeil 8"/>
          <p:cNvCxnSpPr/>
          <p:nvPr/>
        </p:nvCxnSpPr>
        <p:spPr>
          <a:xfrm flipV="1">
            <a:off x="3236400" y="3781440"/>
            <a:ext cx="2495520" cy="29880"/>
          </a:xfrm>
          <a:prstGeom prst="straightConnector1">
            <a:avLst/>
          </a:prstGeom>
          <a:ln w="1905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272" name="Textfeld 56"/>
          <p:cNvSpPr/>
          <p:nvPr/>
        </p:nvSpPr>
        <p:spPr>
          <a:xfrm>
            <a:off x="2247120" y="3368520"/>
            <a:ext cx="4578480" cy="4269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de-DE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3" name="Gerade Verbindung mit Pfeil 9"/>
          <p:cNvCxnSpPr>
            <a:endCxn id="274" idx="0"/>
          </p:cNvCxnSpPr>
          <p:nvPr/>
        </p:nvCxnSpPr>
        <p:spPr>
          <a:xfrm>
            <a:off x="2319480" y="4221000"/>
            <a:ext cx="360" cy="149688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275" name="Gerade Verbindung mit Pfeil 11"/>
          <p:cNvCxnSpPr>
            <a:endCxn id="276" idx="0"/>
          </p:cNvCxnSpPr>
          <p:nvPr/>
        </p:nvCxnSpPr>
        <p:spPr>
          <a:xfrm>
            <a:off x="6674040" y="4181760"/>
            <a:ext cx="7200" cy="153612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sp>
        <p:nvSpPr>
          <p:cNvPr id="274" name="Textfeld 57"/>
          <p:cNvSpPr/>
          <p:nvPr/>
        </p:nvSpPr>
        <p:spPr>
          <a:xfrm>
            <a:off x="1456560" y="5717520"/>
            <a:ext cx="1725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(A) Validity?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feld 58"/>
          <p:cNvSpPr/>
          <p:nvPr/>
        </p:nvSpPr>
        <p:spPr>
          <a:xfrm>
            <a:off x="5817960" y="5717520"/>
            <a:ext cx="1725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(A) Validity?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feld 59"/>
          <p:cNvSpPr/>
          <p:nvPr/>
        </p:nvSpPr>
        <p:spPr>
          <a:xfrm>
            <a:off x="786600" y="1772640"/>
            <a:ext cx="70801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de-DE" sz="1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Acknowledging the presented (and other) problems, along with adopting good open science practices, could help detecting meaningful associations between neurobiological variables and NARTs.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8" name="Grafik 13"/>
          <p:cNvPicPr/>
          <p:nvPr/>
        </p:nvPicPr>
        <p:blipFill>
          <a:blip r:embed="rId2"/>
          <a:stretch/>
        </p:blipFill>
        <p:spPr>
          <a:xfrm>
            <a:off x="2317320" y="4182120"/>
            <a:ext cx="4344480" cy="144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321</TotalTime>
  <Application>LibreOffice/26.2.3.2$Linux_X86_64 LibreOffice_project/620$Build-2</Application>
  <AppVersion>15.0000</AppVersion>
  <Words>904</Words>
  <Paragraphs>182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2025-07-21T10:45:46Z</dcterms:created>
  <dc:creator>Philipp Bierwirth</dc:creator>
  <dc:description/>
  <dc:language>en-US</dc:language>
  <cp:lastModifiedBy/>
  <cp:lastPrinted>2026-05-18T16:28:11Z</cp:lastPrinted>
  <dcterms:modified xsi:type="dcterms:W3CDTF">2026-06-08T18:04:31Z</dcterms:modified>
  <cp:revision>140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Bildschirmpräsentation (4:3)</vt:lpwstr>
  </property>
  <property fmtid="{D5CDD505-2E9C-101B-9397-08002B2CF9AE}" pid="5" name="Slides">
    <vt:i4>26</vt:i4>
  </property>
</Properties>
</file>